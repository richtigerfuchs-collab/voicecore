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Demo-Idee: live eine kurze Notiz einsprechen und das Google Doc daneben offen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A2B"/>
        </a:solidFill>
      </p:bgPr>
    </p:bg>
    <p:spTree>
      <p:nvGrpSpPr>
        <p:cNvPr id="1" name=""/>
        <p:cNvGrpSpPr/>
        <p:nvPr/>
      </p:nvGrpSpPr>
      <p:grpSpPr>
        <a:xfrm>
          <a:off x="0" y="0"/>
          <a:ext cx="0" cy="0"/>
          <a:chOff x="0" y="0"/>
          <a:chExt cx="0" cy="0"/>
        </a:xfrm>
      </p:grpSpPr>
      <p:sp>
        <p:nvSpPr>
          <p:cNvPr id="2" name="Shape 0"/>
          <p:cNvSpPr/>
          <p:nvPr/>
        </p:nvSpPr>
        <p:spPr>
          <a:xfrm>
            <a:off x="8321040" y="-1463040"/>
            <a:ext cx="5852160" cy="5852160"/>
          </a:xfrm>
          <a:prstGeom prst="ellipse">
            <a:avLst/>
          </a:prstGeom>
          <a:solidFill>
            <a:srgbClr val="6D2E46"/>
          </a:solidFill>
          <a:ln/>
        </p:spPr>
      </p:sp>
      <p:sp>
        <p:nvSpPr>
          <p:cNvPr id="3" name="Shape 1"/>
          <p:cNvSpPr/>
          <p:nvPr/>
        </p:nvSpPr>
        <p:spPr>
          <a:xfrm>
            <a:off x="-1645920" y="4480560"/>
            <a:ext cx="4937760" cy="4937760"/>
          </a:xfrm>
          <a:prstGeom prst="ellipse">
            <a:avLst/>
          </a:prstGeom>
          <a:solidFill>
            <a:srgbClr val="6D2E46"/>
          </a:solidFill>
          <a:ln/>
        </p:spPr>
      </p:sp>
      <p:sp>
        <p:nvSpPr>
          <p:cNvPr id="4" name="Shape 2"/>
          <p:cNvSpPr/>
          <p:nvPr/>
        </p:nvSpPr>
        <p:spPr>
          <a:xfrm>
            <a:off x="960120" y="1051560"/>
            <a:ext cx="1051560" cy="1051560"/>
          </a:xfrm>
          <a:prstGeom prst="ellipse">
            <a:avLst/>
          </a:prstGeom>
          <a:solidFill>
            <a:srgbClr val="A26769"/>
          </a:solidFill>
          <a:ln/>
        </p:spPr>
      </p:sp>
      <p:pic>
        <p:nvPicPr>
          <p:cNvPr id="5" name="Image 0" descr="preencoded.png">    </p:cNvPr>
          <p:cNvPicPr>
            <a:picLocks noChangeAspect="1"/>
          </p:cNvPicPr>
          <p:nvPr/>
        </p:nvPicPr>
        <p:blipFill>
          <a:blip r:embed="rId1"/>
          <a:stretch>
            <a:fillRect/>
          </a:stretch>
        </p:blipFill>
        <p:spPr>
          <a:xfrm>
            <a:off x="1233526" y="1324966"/>
            <a:ext cx="504749" cy="504749"/>
          </a:xfrm>
          <a:prstGeom prst="rect">
            <a:avLst/>
          </a:prstGeom>
        </p:spPr>
      </p:pic>
      <p:sp>
        <p:nvSpPr>
          <p:cNvPr id="6" name="Text 3"/>
          <p:cNvSpPr/>
          <p:nvPr/>
        </p:nvSpPr>
        <p:spPr>
          <a:xfrm>
            <a:off x="914400" y="2331720"/>
            <a:ext cx="10058400" cy="1051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VoiceCore</a:t>
            </a:r>
            <a:endParaRPr lang="en-US" sz="6000" dirty="0"/>
          </a:p>
        </p:txBody>
      </p:sp>
      <p:sp>
        <p:nvSpPr>
          <p:cNvPr id="7" name="Text 4"/>
          <p:cNvSpPr/>
          <p:nvPr/>
        </p:nvSpPr>
        <p:spPr>
          <a:xfrm>
            <a:off x="914400" y="3429000"/>
            <a:ext cx="10058400" cy="640080"/>
          </a:xfrm>
          <a:prstGeom prst="rect">
            <a:avLst/>
          </a:prstGeom>
          <a:noFill/>
          <a:ln/>
        </p:spPr>
        <p:txBody>
          <a:bodyPr wrap="square" lIns="0" tIns="0" rIns="0" bIns="0" rtlCol="0" anchor="ctr"/>
          <a:lstStyle/>
          <a:p>
            <a:pPr indent="0" marL="0">
              <a:buNone/>
            </a:pPr>
            <a:r>
              <a:rPr lang="en-US" sz="2800" i="1" dirty="0">
                <a:solidFill>
                  <a:srgbClr val="E8C9CE"/>
                </a:solidFill>
                <a:latin typeface="Cambria" pitchFamily="34" charset="0"/>
                <a:ea typeface="Cambria" pitchFamily="34" charset="-122"/>
                <a:cs typeface="Cambria" pitchFamily="34" charset="-120"/>
              </a:rPr>
              <a:t>Einsprechen. Fertig.</a:t>
            </a:r>
            <a:endParaRPr lang="en-US" sz="2800" dirty="0"/>
          </a:p>
        </p:txBody>
      </p:sp>
      <p:sp>
        <p:nvSpPr>
          <p:cNvPr id="8" name="Text 5"/>
          <p:cNvSpPr/>
          <p:nvPr/>
        </p:nvSpPr>
        <p:spPr>
          <a:xfrm>
            <a:off x="914400" y="4251960"/>
            <a:ext cx="9601200" cy="868680"/>
          </a:xfrm>
          <a:prstGeom prst="rect">
            <a:avLst/>
          </a:prstGeom>
          <a:noFill/>
          <a:ln/>
        </p:spPr>
        <p:txBody>
          <a:bodyPr wrap="square" lIns="0" tIns="0" rIns="0" bIns="0" rtlCol="0" anchor="ctr"/>
          <a:lstStyle/>
          <a:p>
            <a:pPr indent="0" marL="0">
              <a:buNone/>
            </a:pPr>
            <a:r>
              <a:rPr lang="en-US" sz="1700" dirty="0">
                <a:solidFill>
                  <a:srgbClr val="D9CFC7"/>
                </a:solidFill>
                <a:latin typeface="Calibri" pitchFamily="34" charset="0"/>
                <a:ea typeface="Calibri" pitchFamily="34" charset="-122"/>
                <a:cs typeface="Calibri" pitchFamily="34" charset="-120"/>
              </a:rPr>
              <a:t>Die Sprachnotiz-App, die Tagebuch, Notizen und Restaurant-Reviews</a:t>
            </a:r>
            <a:endParaRPr lang="en-US" sz="1700" dirty="0"/>
          </a:p>
          <a:p>
            <a:pPr indent="0" marL="0">
              <a:buNone/>
            </a:pPr>
            <a:r>
              <a:rPr lang="en-US" sz="1700" dirty="0">
                <a:solidFill>
                  <a:srgbClr val="D9CFC7"/>
                </a:solidFill>
                <a:latin typeface="Calibri" pitchFamily="34" charset="0"/>
                <a:ea typeface="Calibri" pitchFamily="34" charset="-122"/>
                <a:cs typeface="Calibri" pitchFamily="34" charset="-120"/>
              </a:rPr>
              <a:t>von selbst ins richtige Google Doc schreibt.</a:t>
            </a:r>
            <a:endParaRPr lang="en-US" sz="1700" dirty="0"/>
          </a:p>
        </p:txBody>
      </p:sp>
      <p:sp>
        <p:nvSpPr>
          <p:cNvPr id="9" name="Text 6"/>
          <p:cNvSpPr/>
          <p:nvPr/>
        </p:nvSpPr>
        <p:spPr>
          <a:xfrm>
            <a:off x="914400" y="5989320"/>
            <a:ext cx="10058400" cy="365760"/>
          </a:xfrm>
          <a:prstGeom prst="rect">
            <a:avLst/>
          </a:prstGeom>
          <a:noFill/>
          <a:ln/>
        </p:spPr>
        <p:txBody>
          <a:bodyPr wrap="square" lIns="0" tIns="0" rIns="0" bIns="0" rtlCol="0" anchor="ctr"/>
          <a:lstStyle/>
          <a:p>
            <a:pPr indent="0" marL="0">
              <a:buNone/>
            </a:pPr>
            <a:r>
              <a:rPr lang="en-US" sz="1300" dirty="0">
                <a:solidFill>
                  <a:srgbClr val="A26769"/>
                </a:solidFill>
                <a:latin typeface="Calibri" pitchFamily="34" charset="0"/>
                <a:ea typeface="Calibri" pitchFamily="34" charset="-122"/>
                <a:cs typeface="Calibri" pitchFamily="34" charset="-120"/>
              </a:rPr>
              <a:t>Ein Projekt von Kim &amp; Kathrin  ·  live auf voicecore.onrender.com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68580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Warum gibt es VoiceCore?</a:t>
            </a:r>
            <a:endParaRPr lang="en-US" sz="3400" dirty="0"/>
          </a:p>
        </p:txBody>
      </p:sp>
      <p:sp>
        <p:nvSpPr>
          <p:cNvPr id="3" name="Shape 1"/>
          <p:cNvSpPr/>
          <p:nvPr/>
        </p:nvSpPr>
        <p:spPr>
          <a:xfrm>
            <a:off x="502920" y="1371600"/>
            <a:ext cx="5394960" cy="4663440"/>
          </a:xfrm>
          <a:prstGeom prst="roundRect">
            <a:avLst>
              <a:gd name="adj" fmla="val 2353"/>
            </a:avLst>
          </a:prstGeom>
          <a:solidFill>
            <a:srgbClr val="F6F0EA"/>
          </a:solidFill>
          <a:ln/>
        </p:spPr>
      </p:sp>
      <p:sp>
        <p:nvSpPr>
          <p:cNvPr id="4" name="Text 2"/>
          <p:cNvSpPr/>
          <p:nvPr/>
        </p:nvSpPr>
        <p:spPr>
          <a:xfrm>
            <a:off x="868680" y="1645920"/>
            <a:ext cx="4663440" cy="457200"/>
          </a:xfrm>
          <a:prstGeom prst="rect">
            <a:avLst/>
          </a:prstGeom>
          <a:noFill/>
          <a:ln/>
        </p:spPr>
        <p:txBody>
          <a:bodyPr wrap="square" lIns="0" tIns="0" rIns="0" bIns="0" rtlCol="0" anchor="ctr"/>
          <a:lstStyle/>
          <a:p>
            <a:pPr indent="0" marL="0">
              <a:buNone/>
            </a:pPr>
            <a:r>
              <a:rPr lang="en-US" sz="2100" b="1" dirty="0">
                <a:solidFill>
                  <a:srgbClr val="2B2B2B"/>
                </a:solidFill>
                <a:latin typeface="Cambria" pitchFamily="34" charset="0"/>
                <a:ea typeface="Cambria" pitchFamily="34" charset="-122"/>
                <a:cs typeface="Cambria" pitchFamily="34" charset="-120"/>
              </a:rPr>
              <a:t>Das Problem</a:t>
            </a:r>
            <a:endParaRPr lang="en-US" sz="2100" dirty="0"/>
          </a:p>
        </p:txBody>
      </p:sp>
      <p:sp>
        <p:nvSpPr>
          <p:cNvPr id="5" name="Text 3"/>
          <p:cNvSpPr/>
          <p:nvPr/>
        </p:nvSpPr>
        <p:spPr>
          <a:xfrm>
            <a:off x="868680" y="2240280"/>
            <a:ext cx="4663440" cy="356616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2B2B2B"/>
                </a:solidFill>
                <a:latin typeface="Calibri" pitchFamily="34" charset="0"/>
                <a:ea typeface="Calibri" pitchFamily="34" charset="-122"/>
                <a:cs typeface="Calibri" pitchFamily="34" charset="-120"/>
              </a:rPr>
              <a:t>Schöne Momente verfliegen — abends fehlt die Energie, sie aufzuschreiben.</a:t>
            </a:r>
            <a:endParaRPr lang="en-US" sz="1500" dirty="0"/>
          </a:p>
          <a:p>
            <a:pPr marL="342900" indent="-342900">
              <a:spcAft>
                <a:spcPts val="1200"/>
              </a:spcAft>
              <a:buSzPct val="100000"/>
              <a:buChar char="•"/>
            </a:pPr>
            <a:r>
              <a:rPr lang="en-US" sz="1500" dirty="0">
                <a:solidFill>
                  <a:srgbClr val="2B2B2B"/>
                </a:solidFill>
                <a:latin typeface="Calibri" pitchFamily="34" charset="0"/>
                <a:ea typeface="Calibri" pitchFamily="34" charset="-122"/>
                <a:cs typeface="Calibri" pitchFamily="34" charset="-120"/>
              </a:rPr>
              <a:t>Tagebuch tippen auf dem Handy ist mühsam; die Gewohnheit bricht ab.</a:t>
            </a:r>
            <a:endParaRPr lang="en-US" sz="1500" dirty="0"/>
          </a:p>
          <a:p>
            <a:pPr marL="342900" indent="-342900">
              <a:buSzPct val="100000"/>
              <a:buChar char="•"/>
            </a:pPr>
            <a:r>
              <a:rPr lang="en-US" sz="1500" dirty="0">
                <a:solidFill>
                  <a:srgbClr val="2B2B2B"/>
                </a:solidFill>
                <a:latin typeface="Calibri" pitchFamily="34" charset="0"/>
                <a:ea typeface="Calibri" pitchFamily="34" charset="-122"/>
                <a:cs typeface="Calibri" pitchFamily="34" charset="-120"/>
              </a:rPr>
              <a:t>Diktier-Apps liefern unformatierten Rohtext — und speichern ihn irgendwo, nur nicht im eigenen Tagebuch-Dokument.</a:t>
            </a:r>
            <a:endParaRPr lang="en-US" sz="1500" dirty="0"/>
          </a:p>
        </p:txBody>
      </p:sp>
      <p:sp>
        <p:nvSpPr>
          <p:cNvPr id="6" name="Shape 4"/>
          <p:cNvSpPr/>
          <p:nvPr/>
        </p:nvSpPr>
        <p:spPr>
          <a:xfrm>
            <a:off x="6309360" y="1371600"/>
            <a:ext cx="5394960" cy="4663440"/>
          </a:xfrm>
          <a:prstGeom prst="roundRect">
            <a:avLst>
              <a:gd name="adj" fmla="val 2353"/>
            </a:avLst>
          </a:prstGeom>
          <a:solidFill>
            <a:srgbClr val="6D2E46"/>
          </a:solidFill>
          <a:ln/>
        </p:spPr>
      </p:sp>
      <p:sp>
        <p:nvSpPr>
          <p:cNvPr id="7" name="Text 5"/>
          <p:cNvSpPr/>
          <p:nvPr/>
        </p:nvSpPr>
        <p:spPr>
          <a:xfrm>
            <a:off x="6675120" y="1645920"/>
            <a:ext cx="466344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Die Lösung</a:t>
            </a:r>
            <a:endParaRPr lang="en-US" sz="2100" dirty="0"/>
          </a:p>
        </p:txBody>
      </p:sp>
      <p:sp>
        <p:nvSpPr>
          <p:cNvPr id="8" name="Text 6"/>
          <p:cNvSpPr/>
          <p:nvPr/>
        </p:nvSpPr>
        <p:spPr>
          <a:xfrm>
            <a:off x="6675120" y="2286000"/>
            <a:ext cx="4663440" cy="457200"/>
          </a:xfrm>
          <a:prstGeom prst="rect">
            <a:avLst/>
          </a:prstGeom>
          <a:noFill/>
          <a:ln/>
        </p:spPr>
        <p:txBody>
          <a:bodyPr wrap="square" lIns="0" tIns="0" rIns="0" bIns="0" rtlCol="0" anchor="ctr"/>
          <a:lstStyle/>
          <a:p>
            <a:pPr indent="0" marL="0">
              <a:buNone/>
            </a:pPr>
            <a:r>
              <a:rPr lang="en-US" sz="1800" b="1" dirty="0">
                <a:solidFill>
                  <a:srgbClr val="E8C9CE"/>
                </a:solidFill>
                <a:latin typeface="Calibri" pitchFamily="34" charset="0"/>
                <a:ea typeface="Calibri" pitchFamily="34" charset="-122"/>
                <a:cs typeface="Calibri" pitchFamily="34" charset="-120"/>
              </a:rPr>
              <a:t>Ein Tap. Sprechen. Fertig.</a:t>
            </a:r>
            <a:endParaRPr lang="en-US" sz="1800" dirty="0"/>
          </a:p>
        </p:txBody>
      </p:sp>
      <p:sp>
        <p:nvSpPr>
          <p:cNvPr id="9" name="Text 7"/>
          <p:cNvSpPr/>
          <p:nvPr/>
        </p:nvSpPr>
        <p:spPr>
          <a:xfrm>
            <a:off x="6675120" y="2834640"/>
            <a:ext cx="4663440" cy="14630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Die App nimmt die Sprachnachricht auf, eine KI transkribiert und formatiert sie nach Vorlage — und der fertige Eintrag steht Sekunden später oben im richtigen Google Doc.</a:t>
            </a:r>
            <a:endParaRPr lang="en-US" sz="1500" dirty="0"/>
          </a:p>
        </p:txBody>
      </p:sp>
      <p:sp>
        <p:nvSpPr>
          <p:cNvPr id="10" name="Text 8"/>
          <p:cNvSpPr/>
          <p:nvPr/>
        </p:nvSpPr>
        <p:spPr>
          <a:xfrm>
            <a:off x="6675120" y="4480560"/>
            <a:ext cx="4663440" cy="1280160"/>
          </a:xfrm>
          <a:prstGeom prst="rect">
            <a:avLst/>
          </a:prstGeom>
          <a:noFill/>
          <a:ln/>
        </p:spPr>
        <p:txBody>
          <a:bodyPr wrap="square" lIns="0" tIns="0" rIns="0" bIns="0" rtlCol="0" anchor="t"/>
          <a:lstStyle/>
          <a:p>
            <a:pPr indent="0" marL="0">
              <a:buNone/>
            </a:pPr>
            <a:r>
              <a:rPr lang="en-US" sz="1300" i="1" dirty="0">
                <a:solidFill>
                  <a:srgbClr val="E8C9CE"/>
                </a:solidFill>
                <a:latin typeface="Calibri" pitchFamily="34" charset="0"/>
                <a:ea typeface="Calibri" pitchFamily="34" charset="-122"/>
                <a:cs typeface="Calibri" pitchFamily="34" charset="-120"/>
              </a:rPr>
              <a:t>Gebaut, weil es das so nicht gab: keine fertige App und kein KI-Assistent schreibt zuverlässig formatierte Einträge in ein bestimmtes, bestehendes Google Doc.</a:t>
            </a:r>
            <a:endParaRPr lang="en-US" sz="1300" dirty="0"/>
          </a:p>
        </p:txBody>
      </p:sp>
      <p:sp>
        <p:nvSpPr>
          <p:cNvPr id="11" name="Text 9"/>
          <p:cNvSpPr/>
          <p:nvPr/>
        </p:nvSpPr>
        <p:spPr>
          <a:xfrm>
            <a:off x="502920" y="6473952"/>
            <a:ext cx="2743200" cy="274320"/>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VoiceCore · Juli 2026</a:t>
            </a:r>
            <a:endParaRPr lang="en-US" sz="900" dirty="0"/>
          </a:p>
        </p:txBody>
      </p:sp>
      <p:sp>
        <p:nvSpPr>
          <p:cNvPr id="12" name="Text 10"/>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68580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So funktioniert's</a:t>
            </a:r>
            <a:endParaRPr lang="en-US" sz="3400" dirty="0"/>
          </a:p>
        </p:txBody>
      </p:sp>
      <p:sp>
        <p:nvSpPr>
          <p:cNvPr id="3" name="Shape 1"/>
          <p:cNvSpPr/>
          <p:nvPr/>
        </p:nvSpPr>
        <p:spPr>
          <a:xfrm>
            <a:off x="502920" y="1600200"/>
            <a:ext cx="3520440" cy="3794760"/>
          </a:xfrm>
          <a:prstGeom prst="roundRect">
            <a:avLst>
              <a:gd name="adj" fmla="val 3117"/>
            </a:avLst>
          </a:prstGeom>
          <a:solidFill>
            <a:srgbClr val="F6F0EA"/>
          </a:solidFill>
          <a:ln/>
        </p:spPr>
      </p:sp>
      <p:sp>
        <p:nvSpPr>
          <p:cNvPr id="4" name="Shape 2"/>
          <p:cNvSpPr/>
          <p:nvPr/>
        </p:nvSpPr>
        <p:spPr>
          <a:xfrm>
            <a:off x="1783080" y="1965960"/>
            <a:ext cx="960120" cy="960120"/>
          </a:xfrm>
          <a:prstGeom prst="ellipse">
            <a:avLst/>
          </a:prstGeom>
          <a:solidFill>
            <a:srgbClr val="6D2E46"/>
          </a:solidFill>
          <a:ln/>
        </p:spPr>
      </p:sp>
      <p:pic>
        <p:nvPicPr>
          <p:cNvPr id="5" name="Image 0" descr="preencoded.png">    </p:cNvPr>
          <p:cNvPicPr>
            <a:picLocks noChangeAspect="1"/>
          </p:cNvPicPr>
          <p:nvPr/>
        </p:nvPicPr>
        <p:blipFill>
          <a:blip r:embed="rId1"/>
          <a:stretch>
            <a:fillRect/>
          </a:stretch>
        </p:blipFill>
        <p:spPr>
          <a:xfrm>
            <a:off x="2032711" y="2215591"/>
            <a:ext cx="460858" cy="460858"/>
          </a:xfrm>
          <a:prstGeom prst="rect">
            <a:avLst/>
          </a:prstGeom>
        </p:spPr>
      </p:pic>
      <p:sp>
        <p:nvSpPr>
          <p:cNvPr id="6" name="Text 3"/>
          <p:cNvSpPr/>
          <p:nvPr/>
        </p:nvSpPr>
        <p:spPr>
          <a:xfrm>
            <a:off x="777240" y="3154680"/>
            <a:ext cx="2971800" cy="457200"/>
          </a:xfrm>
          <a:prstGeom prst="rect">
            <a:avLst/>
          </a:prstGeom>
          <a:noFill/>
          <a:ln/>
        </p:spPr>
        <p:txBody>
          <a:bodyPr wrap="square" lIns="0" tIns="0" rIns="0" bIns="0" rtlCol="0" anchor="ctr"/>
          <a:lstStyle/>
          <a:p>
            <a:pPr algn="ctr" indent="0" marL="0">
              <a:buNone/>
            </a:pPr>
            <a:r>
              <a:rPr lang="en-US" sz="1900" b="1" dirty="0">
                <a:solidFill>
                  <a:srgbClr val="2B2B2B"/>
                </a:solidFill>
                <a:latin typeface="Cambria" pitchFamily="34" charset="0"/>
                <a:ea typeface="Cambria" pitchFamily="34" charset="-122"/>
                <a:cs typeface="Cambria" pitchFamily="34" charset="-120"/>
              </a:rPr>
              <a:t>1 · Aufnehmen</a:t>
            </a:r>
            <a:endParaRPr lang="en-US" sz="1900" dirty="0"/>
          </a:p>
        </p:txBody>
      </p:sp>
      <p:sp>
        <p:nvSpPr>
          <p:cNvPr id="7" name="Text 4"/>
          <p:cNvSpPr/>
          <p:nvPr/>
        </p:nvSpPr>
        <p:spPr>
          <a:xfrm>
            <a:off x="822960" y="3703320"/>
            <a:ext cx="2880360" cy="1554480"/>
          </a:xfrm>
          <a:prstGeom prst="rect">
            <a:avLst/>
          </a:prstGeom>
          <a:noFill/>
          <a:ln/>
        </p:spPr>
        <p:txBody>
          <a:bodyPr wrap="square" lIns="0" tIns="0" rIns="0" bIns="0" rtlCol="0" anchor="t"/>
          <a:lstStyle/>
          <a:p>
            <a:pPr algn="ctr" indent="0" marL="0">
              <a:buNone/>
            </a:pPr>
            <a:r>
              <a:rPr lang="en-US" sz="1350" dirty="0">
                <a:solidFill>
                  <a:srgbClr val="2B2B2B"/>
                </a:solidFill>
                <a:latin typeface="Calibri" pitchFamily="34" charset="0"/>
                <a:ea typeface="Calibri" pitchFamily="34" charset="-122"/>
                <a:cs typeface="Calibri" pitchFamily="34" charset="-120"/>
              </a:rPr>
              <a:t>App vom Homescreen öffnen, Sprecher (Kim/Kathrin) und Vorlage wählen, roten Knopf drücken und einfach erzählen.</a:t>
            </a:r>
            <a:endParaRPr lang="en-US" sz="1350" dirty="0"/>
          </a:p>
        </p:txBody>
      </p:sp>
      <p:sp>
        <p:nvSpPr>
          <p:cNvPr id="8" name="Text 5"/>
          <p:cNvSpPr/>
          <p:nvPr/>
        </p:nvSpPr>
        <p:spPr>
          <a:xfrm>
            <a:off x="4023360" y="3063240"/>
            <a:ext cx="548640" cy="640080"/>
          </a:xfrm>
          <a:prstGeom prst="rect">
            <a:avLst/>
          </a:prstGeom>
          <a:noFill/>
          <a:ln/>
        </p:spPr>
        <p:txBody>
          <a:bodyPr wrap="square" lIns="0" tIns="0" rIns="0" bIns="0" rtlCol="0" anchor="ctr"/>
          <a:lstStyle/>
          <a:p>
            <a:pPr algn="ctr" indent="0" marL="0">
              <a:buNone/>
            </a:pPr>
            <a:r>
              <a:rPr lang="en-US" sz="3000" b="1" dirty="0">
                <a:solidFill>
                  <a:srgbClr val="A26769"/>
                </a:solidFill>
                <a:latin typeface="Calibri" pitchFamily="34" charset="0"/>
                <a:ea typeface="Calibri" pitchFamily="34" charset="-122"/>
                <a:cs typeface="Calibri" pitchFamily="34" charset="-120"/>
              </a:rPr>
              <a:t>→</a:t>
            </a:r>
            <a:endParaRPr lang="en-US" sz="3000" dirty="0"/>
          </a:p>
        </p:txBody>
      </p:sp>
      <p:sp>
        <p:nvSpPr>
          <p:cNvPr id="9" name="Shape 6"/>
          <p:cNvSpPr/>
          <p:nvPr/>
        </p:nvSpPr>
        <p:spPr>
          <a:xfrm>
            <a:off x="4544568" y="1600200"/>
            <a:ext cx="3520440" cy="3794760"/>
          </a:xfrm>
          <a:prstGeom prst="roundRect">
            <a:avLst>
              <a:gd name="adj" fmla="val 3117"/>
            </a:avLst>
          </a:prstGeom>
          <a:solidFill>
            <a:srgbClr val="F6F0EA"/>
          </a:solidFill>
          <a:ln/>
        </p:spPr>
      </p:sp>
      <p:sp>
        <p:nvSpPr>
          <p:cNvPr id="10" name="Shape 7"/>
          <p:cNvSpPr/>
          <p:nvPr/>
        </p:nvSpPr>
        <p:spPr>
          <a:xfrm>
            <a:off x="5824728" y="1965960"/>
            <a:ext cx="960120" cy="960120"/>
          </a:xfrm>
          <a:prstGeom prst="ellipse">
            <a:avLst/>
          </a:prstGeom>
          <a:solidFill>
            <a:srgbClr val="6D2E46"/>
          </a:solidFill>
          <a:ln/>
        </p:spPr>
      </p:sp>
      <p:pic>
        <p:nvPicPr>
          <p:cNvPr id="11" name="Image 1" descr="preencoded.png">    </p:cNvPr>
          <p:cNvPicPr>
            <a:picLocks noChangeAspect="1"/>
          </p:cNvPicPr>
          <p:nvPr/>
        </p:nvPicPr>
        <p:blipFill>
          <a:blip r:embed="rId2"/>
          <a:stretch>
            <a:fillRect/>
          </a:stretch>
        </p:blipFill>
        <p:spPr>
          <a:xfrm>
            <a:off x="6074359" y="2215591"/>
            <a:ext cx="460858" cy="460858"/>
          </a:xfrm>
          <a:prstGeom prst="rect">
            <a:avLst/>
          </a:prstGeom>
        </p:spPr>
      </p:pic>
      <p:sp>
        <p:nvSpPr>
          <p:cNvPr id="12" name="Text 8"/>
          <p:cNvSpPr/>
          <p:nvPr/>
        </p:nvSpPr>
        <p:spPr>
          <a:xfrm>
            <a:off x="4818888" y="3154680"/>
            <a:ext cx="2971800" cy="457200"/>
          </a:xfrm>
          <a:prstGeom prst="rect">
            <a:avLst/>
          </a:prstGeom>
          <a:noFill/>
          <a:ln/>
        </p:spPr>
        <p:txBody>
          <a:bodyPr wrap="square" lIns="0" tIns="0" rIns="0" bIns="0" rtlCol="0" anchor="ctr"/>
          <a:lstStyle/>
          <a:p>
            <a:pPr algn="ctr" indent="0" marL="0">
              <a:buNone/>
            </a:pPr>
            <a:r>
              <a:rPr lang="en-US" sz="1900" b="1" dirty="0">
                <a:solidFill>
                  <a:srgbClr val="2B2B2B"/>
                </a:solidFill>
                <a:latin typeface="Cambria" pitchFamily="34" charset="0"/>
                <a:ea typeface="Cambria" pitchFamily="34" charset="-122"/>
                <a:cs typeface="Cambria" pitchFamily="34" charset="-120"/>
              </a:rPr>
              <a:t>2 · KI verarbeitet</a:t>
            </a:r>
            <a:endParaRPr lang="en-US" sz="1900" dirty="0"/>
          </a:p>
        </p:txBody>
      </p:sp>
      <p:sp>
        <p:nvSpPr>
          <p:cNvPr id="13" name="Text 9"/>
          <p:cNvSpPr/>
          <p:nvPr/>
        </p:nvSpPr>
        <p:spPr>
          <a:xfrm>
            <a:off x="4864608" y="3703320"/>
            <a:ext cx="2880360" cy="1554480"/>
          </a:xfrm>
          <a:prstGeom prst="rect">
            <a:avLst/>
          </a:prstGeom>
          <a:noFill/>
          <a:ln/>
        </p:spPr>
        <p:txBody>
          <a:bodyPr wrap="square" lIns="0" tIns="0" rIns="0" bIns="0" rtlCol="0" anchor="t"/>
          <a:lstStyle/>
          <a:p>
            <a:pPr algn="ctr" indent="0" marL="0">
              <a:buNone/>
            </a:pPr>
            <a:r>
              <a:rPr lang="en-US" sz="1350" dirty="0">
                <a:solidFill>
                  <a:srgbClr val="2B2B2B"/>
                </a:solidFill>
                <a:latin typeface="Calibri" pitchFamily="34" charset="0"/>
                <a:ea typeface="Calibri" pitchFamily="34" charset="-122"/>
                <a:cs typeface="Calibri" pitchFamily="34" charset="-120"/>
              </a:rPr>
              <a:t>Gemini transkribiert und formatiert in einem einzigen Schritt — Füllwörter raus, Struktur rein, Emotionen bleiben.</a:t>
            </a:r>
            <a:endParaRPr lang="en-US" sz="1350" dirty="0"/>
          </a:p>
        </p:txBody>
      </p:sp>
      <p:sp>
        <p:nvSpPr>
          <p:cNvPr id="14" name="Text 10"/>
          <p:cNvSpPr/>
          <p:nvPr/>
        </p:nvSpPr>
        <p:spPr>
          <a:xfrm>
            <a:off x="8065008" y="3063240"/>
            <a:ext cx="548640" cy="640080"/>
          </a:xfrm>
          <a:prstGeom prst="rect">
            <a:avLst/>
          </a:prstGeom>
          <a:noFill/>
          <a:ln/>
        </p:spPr>
        <p:txBody>
          <a:bodyPr wrap="square" lIns="0" tIns="0" rIns="0" bIns="0" rtlCol="0" anchor="ctr"/>
          <a:lstStyle/>
          <a:p>
            <a:pPr algn="ctr" indent="0" marL="0">
              <a:buNone/>
            </a:pPr>
            <a:r>
              <a:rPr lang="en-US" sz="3000" b="1" dirty="0">
                <a:solidFill>
                  <a:srgbClr val="A26769"/>
                </a:solidFill>
                <a:latin typeface="Calibri" pitchFamily="34" charset="0"/>
                <a:ea typeface="Calibri" pitchFamily="34" charset="-122"/>
                <a:cs typeface="Calibri" pitchFamily="34" charset="-120"/>
              </a:rPr>
              <a:t>→</a:t>
            </a:r>
            <a:endParaRPr lang="en-US" sz="3000" dirty="0"/>
          </a:p>
        </p:txBody>
      </p:sp>
      <p:sp>
        <p:nvSpPr>
          <p:cNvPr id="15" name="Shape 11"/>
          <p:cNvSpPr/>
          <p:nvPr/>
        </p:nvSpPr>
        <p:spPr>
          <a:xfrm>
            <a:off x="8586216" y="1600200"/>
            <a:ext cx="3520440" cy="3794760"/>
          </a:xfrm>
          <a:prstGeom prst="roundRect">
            <a:avLst>
              <a:gd name="adj" fmla="val 3117"/>
            </a:avLst>
          </a:prstGeom>
          <a:solidFill>
            <a:srgbClr val="6D2E46"/>
          </a:solidFill>
          <a:ln/>
        </p:spPr>
      </p:sp>
      <p:sp>
        <p:nvSpPr>
          <p:cNvPr id="16" name="Shape 12"/>
          <p:cNvSpPr/>
          <p:nvPr/>
        </p:nvSpPr>
        <p:spPr>
          <a:xfrm>
            <a:off x="9866376" y="1965960"/>
            <a:ext cx="960120" cy="960120"/>
          </a:xfrm>
          <a:prstGeom prst="ellipse">
            <a:avLst/>
          </a:prstGeom>
          <a:solidFill>
            <a:srgbClr val="A26769"/>
          </a:solidFill>
          <a:ln/>
        </p:spPr>
      </p:sp>
      <p:pic>
        <p:nvPicPr>
          <p:cNvPr id="17" name="Image 2" descr="preencoded.png">    </p:cNvPr>
          <p:cNvPicPr>
            <a:picLocks noChangeAspect="1"/>
          </p:cNvPicPr>
          <p:nvPr/>
        </p:nvPicPr>
        <p:blipFill>
          <a:blip r:embed="rId3"/>
          <a:stretch>
            <a:fillRect/>
          </a:stretch>
        </p:blipFill>
        <p:spPr>
          <a:xfrm>
            <a:off x="10116007" y="2215591"/>
            <a:ext cx="460858" cy="460858"/>
          </a:xfrm>
          <a:prstGeom prst="rect">
            <a:avLst/>
          </a:prstGeom>
        </p:spPr>
      </p:pic>
      <p:sp>
        <p:nvSpPr>
          <p:cNvPr id="18" name="Text 13"/>
          <p:cNvSpPr/>
          <p:nvPr/>
        </p:nvSpPr>
        <p:spPr>
          <a:xfrm>
            <a:off x="8860536" y="3154680"/>
            <a:ext cx="29718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 · Im Google Doc</a:t>
            </a:r>
            <a:endParaRPr lang="en-US" sz="1900" dirty="0"/>
          </a:p>
        </p:txBody>
      </p:sp>
      <p:sp>
        <p:nvSpPr>
          <p:cNvPr id="19" name="Text 14"/>
          <p:cNvSpPr/>
          <p:nvPr/>
        </p:nvSpPr>
        <p:spPr>
          <a:xfrm>
            <a:off x="8906256" y="3703320"/>
            <a:ext cx="2880360" cy="1554480"/>
          </a:xfrm>
          <a:prstGeom prst="rect">
            <a:avLst/>
          </a:prstGeom>
          <a:noFill/>
          <a:ln/>
        </p:spPr>
        <p:txBody>
          <a:bodyPr wrap="square" lIns="0" tIns="0" rIns="0" bIns="0" rtlCol="0" anchor="t"/>
          <a:lstStyle/>
          <a:p>
            <a:pPr algn="ctr" indent="0" marL="0">
              <a:buNone/>
            </a:pPr>
            <a:r>
              <a:rPr lang="en-US" sz="1350" dirty="0">
                <a:solidFill>
                  <a:srgbClr val="FFFFFF"/>
                </a:solidFill>
                <a:latin typeface="Calibri" pitchFamily="34" charset="0"/>
                <a:ea typeface="Calibri" pitchFamily="34" charset="-122"/>
                <a:cs typeface="Calibri" pitchFamily="34" charset="-120"/>
              </a:rPr>
              <a:t>Der fertige Eintrag erscheint oben im hinterlegten Doc — mit Datum, Titel und Namen. Kein Kopieren, kein Einfügen.</a:t>
            </a:r>
            <a:endParaRPr lang="en-US" sz="1350" dirty="0"/>
          </a:p>
        </p:txBody>
      </p:sp>
      <p:sp>
        <p:nvSpPr>
          <p:cNvPr id="20" name="Text 15"/>
          <p:cNvSpPr/>
          <p:nvPr/>
        </p:nvSpPr>
        <p:spPr>
          <a:xfrm>
            <a:off x="502920" y="5760720"/>
            <a:ext cx="11155680" cy="411480"/>
          </a:xfrm>
          <a:prstGeom prst="rect">
            <a:avLst/>
          </a:prstGeom>
          <a:noFill/>
          <a:ln/>
        </p:spPr>
        <p:txBody>
          <a:bodyPr wrap="square" lIns="0" tIns="0" rIns="0" bIns="0" rtlCol="0" anchor="ctr"/>
          <a:lstStyle/>
          <a:p>
            <a:pPr algn="ctr" indent="0" marL="0">
              <a:buNone/>
            </a:pPr>
            <a:r>
              <a:rPr lang="en-US" sz="1400" i="1" dirty="0">
                <a:solidFill>
                  <a:srgbClr val="8A8A8A"/>
                </a:solidFill>
                <a:latin typeface="Calibri" pitchFamily="34" charset="0"/>
                <a:ea typeface="Calibri" pitchFamily="34" charset="-122"/>
                <a:cs typeface="Calibri" pitchFamily="34" charset="-120"/>
              </a:rPr>
              <a:t>Dauert nur wenige Sekunden  ·  ein einziger KI-Aufruf pro Notiz  ·  läuft auf jedem Smartphone im Browser (PWA)</a:t>
            </a:r>
            <a:endParaRPr lang="en-US" sz="1400" dirty="0"/>
          </a:p>
        </p:txBody>
      </p:sp>
      <p:sp>
        <p:nvSpPr>
          <p:cNvPr id="21" name="Text 16"/>
          <p:cNvSpPr/>
          <p:nvPr/>
        </p:nvSpPr>
        <p:spPr>
          <a:xfrm>
            <a:off x="502920" y="6473952"/>
            <a:ext cx="2743200" cy="274320"/>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VoiceCore · Juli 2026</a:t>
            </a:r>
            <a:endParaRPr lang="en-US" sz="900" dirty="0"/>
          </a:p>
        </p:txBody>
      </p:sp>
      <p:sp>
        <p:nvSpPr>
          <p:cNvPr id="22" name="Text 17"/>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68580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Was die App heute kann</a:t>
            </a:r>
            <a:endParaRPr lang="en-US" sz="3400" dirty="0"/>
          </a:p>
        </p:txBody>
      </p:sp>
      <p:sp>
        <p:nvSpPr>
          <p:cNvPr id="3" name="Shape 1"/>
          <p:cNvSpPr/>
          <p:nvPr/>
        </p:nvSpPr>
        <p:spPr>
          <a:xfrm>
            <a:off x="502920" y="1463040"/>
            <a:ext cx="3520440" cy="2103120"/>
          </a:xfrm>
          <a:prstGeom prst="roundRect">
            <a:avLst>
              <a:gd name="adj" fmla="val 4348"/>
            </a:avLst>
          </a:prstGeom>
          <a:solidFill>
            <a:srgbClr val="F6F0EA"/>
          </a:solidFill>
          <a:ln/>
        </p:spPr>
      </p:sp>
      <p:sp>
        <p:nvSpPr>
          <p:cNvPr id="4" name="Shape 2"/>
          <p:cNvSpPr/>
          <p:nvPr/>
        </p:nvSpPr>
        <p:spPr>
          <a:xfrm>
            <a:off x="758952" y="1719072"/>
            <a:ext cx="566928" cy="566928"/>
          </a:xfrm>
          <a:prstGeom prst="ellipse">
            <a:avLst/>
          </a:prstGeom>
          <a:solidFill>
            <a:srgbClr val="6D2E46"/>
          </a:solidFill>
          <a:ln/>
        </p:spPr>
      </p:sp>
      <p:pic>
        <p:nvPicPr>
          <p:cNvPr id="5" name="Image 0" descr="preencoded.png">    </p:cNvPr>
          <p:cNvPicPr>
            <a:picLocks noChangeAspect="1"/>
          </p:cNvPicPr>
          <p:nvPr/>
        </p:nvPicPr>
        <p:blipFill>
          <a:blip r:embed="rId1"/>
          <a:stretch>
            <a:fillRect/>
          </a:stretch>
        </p:blipFill>
        <p:spPr>
          <a:xfrm>
            <a:off x="906353" y="1866473"/>
            <a:ext cx="272125" cy="272125"/>
          </a:xfrm>
          <a:prstGeom prst="rect">
            <a:avLst/>
          </a:prstGeom>
        </p:spPr>
      </p:pic>
      <p:sp>
        <p:nvSpPr>
          <p:cNvPr id="6" name="Text 3"/>
          <p:cNvSpPr/>
          <p:nvPr/>
        </p:nvSpPr>
        <p:spPr>
          <a:xfrm>
            <a:off x="1463040" y="1737360"/>
            <a:ext cx="2468880" cy="548640"/>
          </a:xfrm>
          <a:prstGeom prst="rect">
            <a:avLst/>
          </a:prstGeom>
          <a:noFill/>
          <a:ln/>
        </p:spPr>
        <p:txBody>
          <a:bodyPr wrap="square" lIns="0" tIns="0" rIns="0" bIns="0" rtlCol="0" anchor="ctr"/>
          <a:lstStyle/>
          <a:p>
            <a:pPr indent="0" marL="0">
              <a:buNone/>
            </a:pPr>
            <a:r>
              <a:rPr lang="en-US" sz="1550" b="1" dirty="0">
                <a:solidFill>
                  <a:srgbClr val="6D2E46"/>
                </a:solidFill>
                <a:latin typeface="Cambria" pitchFamily="34" charset="0"/>
                <a:ea typeface="Cambria" pitchFamily="34" charset="-122"/>
                <a:cs typeface="Cambria" pitchFamily="34" charset="-120"/>
              </a:rPr>
              <a:t>Drei Vorlagen</a:t>
            </a:r>
            <a:endParaRPr lang="en-US" sz="1550" dirty="0"/>
          </a:p>
        </p:txBody>
      </p:sp>
      <p:sp>
        <p:nvSpPr>
          <p:cNvPr id="7" name="Text 4"/>
          <p:cNvSpPr/>
          <p:nvPr/>
        </p:nvSpPr>
        <p:spPr>
          <a:xfrm>
            <a:off x="777240" y="2423160"/>
            <a:ext cx="3017520" cy="10515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Tagebuch, Quick Note und Restaurant-Review — jede mit eigenem Ziel-Doc und eigenem Format.</a:t>
            </a:r>
            <a:endParaRPr lang="en-US" sz="1200" dirty="0"/>
          </a:p>
        </p:txBody>
      </p:sp>
      <p:sp>
        <p:nvSpPr>
          <p:cNvPr id="8" name="Shape 5"/>
          <p:cNvSpPr/>
          <p:nvPr/>
        </p:nvSpPr>
        <p:spPr>
          <a:xfrm>
            <a:off x="4544568" y="1463040"/>
            <a:ext cx="3520440" cy="2103120"/>
          </a:xfrm>
          <a:prstGeom prst="roundRect">
            <a:avLst>
              <a:gd name="adj" fmla="val 4348"/>
            </a:avLst>
          </a:prstGeom>
          <a:solidFill>
            <a:srgbClr val="F6F0EA"/>
          </a:solidFill>
          <a:ln/>
        </p:spPr>
      </p:sp>
      <p:sp>
        <p:nvSpPr>
          <p:cNvPr id="9" name="Shape 6"/>
          <p:cNvSpPr/>
          <p:nvPr/>
        </p:nvSpPr>
        <p:spPr>
          <a:xfrm>
            <a:off x="4800600" y="1719072"/>
            <a:ext cx="566928" cy="566928"/>
          </a:xfrm>
          <a:prstGeom prst="ellipse">
            <a:avLst/>
          </a:prstGeom>
          <a:solidFill>
            <a:srgbClr val="6D2E46"/>
          </a:solidFill>
          <a:ln/>
        </p:spPr>
      </p:sp>
      <p:pic>
        <p:nvPicPr>
          <p:cNvPr id="10" name="Image 1" descr="preencoded.png">    </p:cNvPr>
          <p:cNvPicPr>
            <a:picLocks noChangeAspect="1"/>
          </p:cNvPicPr>
          <p:nvPr/>
        </p:nvPicPr>
        <p:blipFill>
          <a:blip r:embed="rId2"/>
          <a:stretch>
            <a:fillRect/>
          </a:stretch>
        </p:blipFill>
        <p:spPr>
          <a:xfrm>
            <a:off x="4948001" y="1866473"/>
            <a:ext cx="272125" cy="272125"/>
          </a:xfrm>
          <a:prstGeom prst="rect">
            <a:avLst/>
          </a:prstGeom>
        </p:spPr>
      </p:pic>
      <p:sp>
        <p:nvSpPr>
          <p:cNvPr id="11" name="Text 7"/>
          <p:cNvSpPr/>
          <p:nvPr/>
        </p:nvSpPr>
        <p:spPr>
          <a:xfrm>
            <a:off x="5504688" y="1737360"/>
            <a:ext cx="2468880" cy="548640"/>
          </a:xfrm>
          <a:prstGeom prst="rect">
            <a:avLst/>
          </a:prstGeom>
          <a:noFill/>
          <a:ln/>
        </p:spPr>
        <p:txBody>
          <a:bodyPr wrap="square" lIns="0" tIns="0" rIns="0" bIns="0" rtlCol="0" anchor="ctr"/>
          <a:lstStyle/>
          <a:p>
            <a:pPr indent="0" marL="0">
              <a:buNone/>
            </a:pPr>
            <a:r>
              <a:rPr lang="en-US" sz="1550" b="1" dirty="0">
                <a:solidFill>
                  <a:srgbClr val="6D2E46"/>
                </a:solidFill>
                <a:latin typeface="Cambria" pitchFamily="34" charset="0"/>
                <a:ea typeface="Cambria" pitchFamily="34" charset="-122"/>
                <a:cs typeface="Cambria" pitchFamily="34" charset="-120"/>
              </a:rPr>
              <a:t>Kim &amp; Kathrin</a:t>
            </a:r>
            <a:endParaRPr lang="en-US" sz="1550" dirty="0"/>
          </a:p>
        </p:txBody>
      </p:sp>
      <p:sp>
        <p:nvSpPr>
          <p:cNvPr id="12" name="Text 8"/>
          <p:cNvSpPr/>
          <p:nvPr/>
        </p:nvSpPr>
        <p:spPr>
          <a:xfrm>
            <a:off x="4818888" y="2423160"/>
            <a:ext cx="3017520" cy="10515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Sprecher-Umschalter merkt sich die Wahl pro Gerät. Der Name steht im Titel jedes Eintrags.</a:t>
            </a:r>
            <a:endParaRPr lang="en-US" sz="1200" dirty="0"/>
          </a:p>
        </p:txBody>
      </p:sp>
      <p:sp>
        <p:nvSpPr>
          <p:cNvPr id="13" name="Shape 9"/>
          <p:cNvSpPr/>
          <p:nvPr/>
        </p:nvSpPr>
        <p:spPr>
          <a:xfrm>
            <a:off x="8586216" y="1463040"/>
            <a:ext cx="3520440" cy="2103120"/>
          </a:xfrm>
          <a:prstGeom prst="roundRect">
            <a:avLst>
              <a:gd name="adj" fmla="val 4348"/>
            </a:avLst>
          </a:prstGeom>
          <a:solidFill>
            <a:srgbClr val="F6F0EA"/>
          </a:solidFill>
          <a:ln/>
        </p:spPr>
      </p:sp>
      <p:sp>
        <p:nvSpPr>
          <p:cNvPr id="14" name="Shape 10"/>
          <p:cNvSpPr/>
          <p:nvPr/>
        </p:nvSpPr>
        <p:spPr>
          <a:xfrm>
            <a:off x="8842248" y="1719072"/>
            <a:ext cx="566928" cy="566928"/>
          </a:xfrm>
          <a:prstGeom prst="ellipse">
            <a:avLst/>
          </a:prstGeom>
          <a:solidFill>
            <a:srgbClr val="6D2E46"/>
          </a:solidFill>
          <a:ln/>
        </p:spPr>
      </p:sp>
      <p:pic>
        <p:nvPicPr>
          <p:cNvPr id="15" name="Image 2" descr="preencoded.png">    </p:cNvPr>
          <p:cNvPicPr>
            <a:picLocks noChangeAspect="1"/>
          </p:cNvPicPr>
          <p:nvPr/>
        </p:nvPicPr>
        <p:blipFill>
          <a:blip r:embed="rId3"/>
          <a:stretch>
            <a:fillRect/>
          </a:stretch>
        </p:blipFill>
        <p:spPr>
          <a:xfrm>
            <a:off x="8989649" y="1866473"/>
            <a:ext cx="272125" cy="272125"/>
          </a:xfrm>
          <a:prstGeom prst="rect">
            <a:avLst/>
          </a:prstGeom>
        </p:spPr>
      </p:pic>
      <p:sp>
        <p:nvSpPr>
          <p:cNvPr id="16" name="Text 11"/>
          <p:cNvSpPr/>
          <p:nvPr/>
        </p:nvSpPr>
        <p:spPr>
          <a:xfrm>
            <a:off x="9546336" y="1737360"/>
            <a:ext cx="2468880" cy="548640"/>
          </a:xfrm>
          <a:prstGeom prst="rect">
            <a:avLst/>
          </a:prstGeom>
          <a:noFill/>
          <a:ln/>
        </p:spPr>
        <p:txBody>
          <a:bodyPr wrap="square" lIns="0" tIns="0" rIns="0" bIns="0" rtlCol="0" anchor="ctr"/>
          <a:lstStyle/>
          <a:p>
            <a:pPr indent="0" marL="0">
              <a:buNone/>
            </a:pPr>
            <a:r>
              <a:rPr lang="en-US" sz="1550" b="1" dirty="0">
                <a:solidFill>
                  <a:srgbClr val="6D2E46"/>
                </a:solidFill>
                <a:latin typeface="Cambria" pitchFamily="34" charset="0"/>
                <a:ea typeface="Cambria" pitchFamily="34" charset="-122"/>
                <a:cs typeface="Cambria" pitchFamily="34" charset="-120"/>
              </a:rPr>
              <a:t>Versteht Datumsangaben</a:t>
            </a:r>
            <a:endParaRPr lang="en-US" sz="1550" dirty="0"/>
          </a:p>
        </p:txBody>
      </p:sp>
      <p:sp>
        <p:nvSpPr>
          <p:cNvPr id="17" name="Text 12"/>
          <p:cNvSpPr/>
          <p:nvPr/>
        </p:nvSpPr>
        <p:spPr>
          <a:xfrm>
            <a:off x="8860536" y="2423160"/>
            <a:ext cx="3017520" cy="10515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„Das war am 8. Juli“ oder „gestern“ — der Eintrag bekommt das richtige Datum, nicht das heutige.</a:t>
            </a:r>
            <a:endParaRPr lang="en-US" sz="1200" dirty="0"/>
          </a:p>
        </p:txBody>
      </p:sp>
      <p:sp>
        <p:nvSpPr>
          <p:cNvPr id="18" name="Shape 13"/>
          <p:cNvSpPr/>
          <p:nvPr/>
        </p:nvSpPr>
        <p:spPr>
          <a:xfrm>
            <a:off x="502920" y="3840480"/>
            <a:ext cx="3520440" cy="2103120"/>
          </a:xfrm>
          <a:prstGeom prst="roundRect">
            <a:avLst>
              <a:gd name="adj" fmla="val 4348"/>
            </a:avLst>
          </a:prstGeom>
          <a:solidFill>
            <a:srgbClr val="F6F0EA"/>
          </a:solidFill>
          <a:ln/>
        </p:spPr>
      </p:sp>
      <p:sp>
        <p:nvSpPr>
          <p:cNvPr id="19" name="Shape 14"/>
          <p:cNvSpPr/>
          <p:nvPr/>
        </p:nvSpPr>
        <p:spPr>
          <a:xfrm>
            <a:off x="758952" y="4096512"/>
            <a:ext cx="566928" cy="566928"/>
          </a:xfrm>
          <a:prstGeom prst="ellipse">
            <a:avLst/>
          </a:prstGeom>
          <a:solidFill>
            <a:srgbClr val="6D2E46"/>
          </a:solidFill>
          <a:ln/>
        </p:spPr>
      </p:sp>
      <p:pic>
        <p:nvPicPr>
          <p:cNvPr id="20" name="Image 3" descr="preencoded.png">    </p:cNvPr>
          <p:cNvPicPr>
            <a:picLocks noChangeAspect="1"/>
          </p:cNvPicPr>
          <p:nvPr/>
        </p:nvPicPr>
        <p:blipFill>
          <a:blip r:embed="rId4"/>
          <a:stretch>
            <a:fillRect/>
          </a:stretch>
        </p:blipFill>
        <p:spPr>
          <a:xfrm>
            <a:off x="906353" y="4243913"/>
            <a:ext cx="272125" cy="272125"/>
          </a:xfrm>
          <a:prstGeom prst="rect">
            <a:avLst/>
          </a:prstGeom>
        </p:spPr>
      </p:pic>
      <p:sp>
        <p:nvSpPr>
          <p:cNvPr id="21" name="Text 15"/>
          <p:cNvSpPr/>
          <p:nvPr/>
        </p:nvSpPr>
        <p:spPr>
          <a:xfrm>
            <a:off x="1463040" y="4114800"/>
            <a:ext cx="2468880" cy="548640"/>
          </a:xfrm>
          <a:prstGeom prst="rect">
            <a:avLst/>
          </a:prstGeom>
          <a:noFill/>
          <a:ln/>
        </p:spPr>
        <p:txBody>
          <a:bodyPr wrap="square" lIns="0" tIns="0" rIns="0" bIns="0" rtlCol="0" anchor="ctr"/>
          <a:lstStyle/>
          <a:p>
            <a:pPr indent="0" marL="0">
              <a:buNone/>
            </a:pPr>
            <a:r>
              <a:rPr lang="en-US" sz="1550" b="1" dirty="0">
                <a:solidFill>
                  <a:srgbClr val="6D2E46"/>
                </a:solidFill>
                <a:latin typeface="Cambria" pitchFamily="34" charset="0"/>
                <a:ea typeface="Cambria" pitchFamily="34" charset="-122"/>
                <a:cs typeface="Cambria" pitchFamily="34" charset="-120"/>
              </a:rPr>
              <a:t>Emotionen bleiben</a:t>
            </a:r>
            <a:endParaRPr lang="en-US" sz="1550" dirty="0"/>
          </a:p>
        </p:txBody>
      </p:sp>
      <p:sp>
        <p:nvSpPr>
          <p:cNvPr id="22" name="Text 16"/>
          <p:cNvSpPr/>
          <p:nvPr/>
        </p:nvSpPr>
        <p:spPr>
          <a:xfrm>
            <a:off x="777240" y="4800600"/>
            <a:ext cx="3017520" cy="10515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„Mir ist das Herz übergelaufen“ wird nicht zu „es war schön“ geglättet — Originalworte bleiben erhalten.</a:t>
            </a:r>
            <a:endParaRPr lang="en-US" sz="1200" dirty="0"/>
          </a:p>
        </p:txBody>
      </p:sp>
      <p:sp>
        <p:nvSpPr>
          <p:cNvPr id="23" name="Shape 17"/>
          <p:cNvSpPr/>
          <p:nvPr/>
        </p:nvSpPr>
        <p:spPr>
          <a:xfrm>
            <a:off x="4544568" y="3840480"/>
            <a:ext cx="3520440" cy="2103120"/>
          </a:xfrm>
          <a:prstGeom prst="roundRect">
            <a:avLst>
              <a:gd name="adj" fmla="val 4348"/>
            </a:avLst>
          </a:prstGeom>
          <a:solidFill>
            <a:srgbClr val="F6F0EA"/>
          </a:solidFill>
          <a:ln/>
        </p:spPr>
      </p:sp>
      <p:sp>
        <p:nvSpPr>
          <p:cNvPr id="24" name="Shape 18"/>
          <p:cNvSpPr/>
          <p:nvPr/>
        </p:nvSpPr>
        <p:spPr>
          <a:xfrm>
            <a:off x="4800600" y="4096512"/>
            <a:ext cx="566928" cy="566928"/>
          </a:xfrm>
          <a:prstGeom prst="ellipse">
            <a:avLst/>
          </a:prstGeom>
          <a:solidFill>
            <a:srgbClr val="6D2E46"/>
          </a:solidFill>
          <a:ln/>
        </p:spPr>
      </p:sp>
      <p:pic>
        <p:nvPicPr>
          <p:cNvPr id="25" name="Image 4" descr="preencoded.png">    </p:cNvPr>
          <p:cNvPicPr>
            <a:picLocks noChangeAspect="1"/>
          </p:cNvPicPr>
          <p:nvPr/>
        </p:nvPicPr>
        <p:blipFill>
          <a:blip r:embed="rId5"/>
          <a:stretch>
            <a:fillRect/>
          </a:stretch>
        </p:blipFill>
        <p:spPr>
          <a:xfrm>
            <a:off x="4948001" y="4243913"/>
            <a:ext cx="272125" cy="272125"/>
          </a:xfrm>
          <a:prstGeom prst="rect">
            <a:avLst/>
          </a:prstGeom>
        </p:spPr>
      </p:pic>
      <p:sp>
        <p:nvSpPr>
          <p:cNvPr id="26" name="Text 19"/>
          <p:cNvSpPr/>
          <p:nvPr/>
        </p:nvSpPr>
        <p:spPr>
          <a:xfrm>
            <a:off x="5504688" y="4114800"/>
            <a:ext cx="2468880" cy="548640"/>
          </a:xfrm>
          <a:prstGeom prst="rect">
            <a:avLst/>
          </a:prstGeom>
          <a:noFill/>
          <a:ln/>
        </p:spPr>
        <p:txBody>
          <a:bodyPr wrap="square" lIns="0" tIns="0" rIns="0" bIns="0" rtlCol="0" anchor="ctr"/>
          <a:lstStyle/>
          <a:p>
            <a:pPr indent="0" marL="0">
              <a:buNone/>
            </a:pPr>
            <a:r>
              <a:rPr lang="en-US" sz="1550" b="1" dirty="0">
                <a:solidFill>
                  <a:srgbClr val="6D2E46"/>
                </a:solidFill>
                <a:latin typeface="Cambria" pitchFamily="34" charset="0"/>
                <a:ea typeface="Cambria" pitchFamily="34" charset="-122"/>
                <a:cs typeface="Cambria" pitchFamily="34" charset="-120"/>
              </a:rPr>
              <a:t>Reviews mit ⭐-Sternen</a:t>
            </a:r>
            <a:endParaRPr lang="en-US" sz="1550" dirty="0"/>
          </a:p>
        </p:txBody>
      </p:sp>
      <p:sp>
        <p:nvSpPr>
          <p:cNvPr id="27" name="Text 20"/>
          <p:cNvSpPr/>
          <p:nvPr/>
        </p:nvSpPr>
        <p:spPr>
          <a:xfrm>
            <a:off x="4818888" y="4800600"/>
            <a:ext cx="3017520" cy="10515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Restaurant-Bewertungen folgen exakt dem gewohnten Layout: 5 Kategorien, Sterne, Emoji.</a:t>
            </a:r>
            <a:endParaRPr lang="en-US" sz="1200" dirty="0"/>
          </a:p>
        </p:txBody>
      </p:sp>
      <p:sp>
        <p:nvSpPr>
          <p:cNvPr id="28" name="Shape 21"/>
          <p:cNvSpPr/>
          <p:nvPr/>
        </p:nvSpPr>
        <p:spPr>
          <a:xfrm>
            <a:off x="8586216" y="3840480"/>
            <a:ext cx="3520440" cy="2103120"/>
          </a:xfrm>
          <a:prstGeom prst="roundRect">
            <a:avLst>
              <a:gd name="adj" fmla="val 4348"/>
            </a:avLst>
          </a:prstGeom>
          <a:solidFill>
            <a:srgbClr val="F6F0EA"/>
          </a:solidFill>
          <a:ln/>
        </p:spPr>
      </p:sp>
      <p:sp>
        <p:nvSpPr>
          <p:cNvPr id="29" name="Shape 22"/>
          <p:cNvSpPr/>
          <p:nvPr/>
        </p:nvSpPr>
        <p:spPr>
          <a:xfrm>
            <a:off x="8842248" y="4096512"/>
            <a:ext cx="566928" cy="566928"/>
          </a:xfrm>
          <a:prstGeom prst="ellipse">
            <a:avLst/>
          </a:prstGeom>
          <a:solidFill>
            <a:srgbClr val="6D2E46"/>
          </a:solidFill>
          <a:ln/>
        </p:spPr>
      </p:sp>
      <p:pic>
        <p:nvPicPr>
          <p:cNvPr id="30" name="Image 5" descr="preencoded.png">    </p:cNvPr>
          <p:cNvPicPr>
            <a:picLocks noChangeAspect="1"/>
          </p:cNvPicPr>
          <p:nvPr/>
        </p:nvPicPr>
        <p:blipFill>
          <a:blip r:embed="rId6"/>
          <a:stretch>
            <a:fillRect/>
          </a:stretch>
        </p:blipFill>
        <p:spPr>
          <a:xfrm>
            <a:off x="8989649" y="4243913"/>
            <a:ext cx="272125" cy="272125"/>
          </a:xfrm>
          <a:prstGeom prst="rect">
            <a:avLst/>
          </a:prstGeom>
        </p:spPr>
      </p:pic>
      <p:sp>
        <p:nvSpPr>
          <p:cNvPr id="31" name="Text 23"/>
          <p:cNvSpPr/>
          <p:nvPr/>
        </p:nvSpPr>
        <p:spPr>
          <a:xfrm>
            <a:off x="9546336" y="4114800"/>
            <a:ext cx="2468880" cy="548640"/>
          </a:xfrm>
          <a:prstGeom prst="rect">
            <a:avLst/>
          </a:prstGeom>
          <a:noFill/>
          <a:ln/>
        </p:spPr>
        <p:txBody>
          <a:bodyPr wrap="square" lIns="0" tIns="0" rIns="0" bIns="0" rtlCol="0" anchor="ctr"/>
          <a:lstStyle/>
          <a:p>
            <a:pPr indent="0" marL="0">
              <a:buNone/>
            </a:pPr>
            <a:r>
              <a:rPr lang="en-US" sz="1550" b="1" dirty="0">
                <a:solidFill>
                  <a:srgbClr val="6D2E46"/>
                </a:solidFill>
                <a:latin typeface="Cambria" pitchFamily="34" charset="0"/>
                <a:ea typeface="Cambria" pitchFamily="34" charset="-122"/>
                <a:cs typeface="Cambria" pitchFamily="34" charset="-120"/>
              </a:rPr>
              <a:t>Sofort bereit</a:t>
            </a:r>
            <a:endParaRPr lang="en-US" sz="1550" dirty="0"/>
          </a:p>
        </p:txBody>
      </p:sp>
      <p:sp>
        <p:nvSpPr>
          <p:cNvPr id="32" name="Text 24"/>
          <p:cNvSpPr/>
          <p:nvPr/>
        </p:nvSpPr>
        <p:spPr>
          <a:xfrm>
            <a:off x="8860536" y="4800600"/>
            <a:ext cx="3017520" cy="10515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Ein Wachhalte-Mechanismus verhindert Wartezeiten — die App reagiert immer in Sekunden.</a:t>
            </a:r>
            <a:endParaRPr lang="en-US" sz="1200" dirty="0"/>
          </a:p>
        </p:txBody>
      </p:sp>
      <p:sp>
        <p:nvSpPr>
          <p:cNvPr id="33" name="Text 25"/>
          <p:cNvSpPr/>
          <p:nvPr/>
        </p:nvSpPr>
        <p:spPr>
          <a:xfrm>
            <a:off x="502920" y="6473952"/>
            <a:ext cx="2743200" cy="274320"/>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VoiceCore · Juli 2026</a:t>
            </a:r>
            <a:endParaRPr lang="en-US" sz="900" dirty="0"/>
          </a:p>
        </p:txBody>
      </p:sp>
      <p:sp>
        <p:nvSpPr>
          <p:cNvPr id="34" name="Text 26"/>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68580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Aus Sprache wird Tagebuch — echtes Beispiel</a:t>
            </a:r>
            <a:endParaRPr lang="en-US" sz="3400" dirty="0"/>
          </a:p>
        </p:txBody>
      </p:sp>
      <p:sp>
        <p:nvSpPr>
          <p:cNvPr id="3" name="Shape 1"/>
          <p:cNvSpPr/>
          <p:nvPr/>
        </p:nvSpPr>
        <p:spPr>
          <a:xfrm>
            <a:off x="502920" y="1371600"/>
            <a:ext cx="5166360" cy="4754880"/>
          </a:xfrm>
          <a:prstGeom prst="roundRect">
            <a:avLst>
              <a:gd name="adj" fmla="val 2308"/>
            </a:avLst>
          </a:prstGeom>
          <a:solidFill>
            <a:srgbClr val="F6F0EA"/>
          </a:solidFill>
          <a:ln/>
        </p:spPr>
      </p:sp>
      <p:pic>
        <p:nvPicPr>
          <p:cNvPr id="4" name="Image 0" descr="preencoded.png">    </p:cNvPr>
          <p:cNvPicPr>
            <a:picLocks noChangeAspect="1"/>
          </p:cNvPicPr>
          <p:nvPr/>
        </p:nvPicPr>
        <p:blipFill>
          <a:blip r:embed="rId1"/>
          <a:stretch>
            <a:fillRect/>
          </a:stretch>
        </p:blipFill>
        <p:spPr>
          <a:xfrm>
            <a:off x="868680" y="1691640"/>
            <a:ext cx="411480" cy="411480"/>
          </a:xfrm>
          <a:prstGeom prst="rect">
            <a:avLst/>
          </a:prstGeom>
        </p:spPr>
      </p:pic>
      <p:sp>
        <p:nvSpPr>
          <p:cNvPr id="5" name="Text 2"/>
          <p:cNvSpPr/>
          <p:nvPr/>
        </p:nvSpPr>
        <p:spPr>
          <a:xfrm>
            <a:off x="1463040" y="1691640"/>
            <a:ext cx="3931920" cy="411480"/>
          </a:xfrm>
          <a:prstGeom prst="rect">
            <a:avLst/>
          </a:prstGeom>
          <a:noFill/>
          <a:ln/>
        </p:spPr>
        <p:txBody>
          <a:bodyPr wrap="square" lIns="0" tIns="0" rIns="0" bIns="0" rtlCol="0" anchor="ctr"/>
          <a:lstStyle/>
          <a:p>
            <a:pPr indent="0" marL="0">
              <a:buNone/>
            </a:pPr>
            <a:r>
              <a:rPr lang="en-US" sz="1600" b="1" dirty="0">
                <a:solidFill>
                  <a:srgbClr val="A26769"/>
                </a:solidFill>
                <a:latin typeface="Cambria" pitchFamily="34" charset="0"/>
                <a:ea typeface="Cambria" pitchFamily="34" charset="-122"/>
                <a:cs typeface="Cambria" pitchFamily="34" charset="-120"/>
              </a:rPr>
              <a:t>Eingesprochen (28 Sekunden)</a:t>
            </a:r>
            <a:endParaRPr lang="en-US" sz="1600" dirty="0"/>
          </a:p>
        </p:txBody>
      </p:sp>
      <p:sp>
        <p:nvSpPr>
          <p:cNvPr id="6" name="Text 3"/>
          <p:cNvSpPr/>
          <p:nvPr/>
        </p:nvSpPr>
        <p:spPr>
          <a:xfrm>
            <a:off x="868680" y="2286000"/>
            <a:ext cx="4434840" cy="3657600"/>
          </a:xfrm>
          <a:prstGeom prst="rect">
            <a:avLst/>
          </a:prstGeom>
          <a:noFill/>
          <a:ln/>
        </p:spPr>
        <p:txBody>
          <a:bodyPr wrap="square" lIns="0" tIns="0" rIns="0" bIns="0" rtlCol="0" anchor="t"/>
          <a:lstStyle/>
          <a:p>
            <a:pPr indent="0" marL="0">
              <a:buNone/>
            </a:pPr>
            <a:r>
              <a:rPr lang="en-US" sz="1400" i="1" dirty="0">
                <a:solidFill>
                  <a:srgbClr val="2B2B2B"/>
                </a:solidFill>
                <a:latin typeface="Calibri" pitchFamily="34" charset="0"/>
                <a:ea typeface="Calibri" pitchFamily="34" charset="-122"/>
                <a:cs typeface="Calibri" pitchFamily="34" charset="-120"/>
              </a:rPr>
              <a:t>„Ich will noch was nachtragen, das war am 8. Juli. Kathrin und ich waren abends am Rhein spazieren und die Sonne ging unter und alles war golden. Und ich hatte so einen Moment, wo mir das Herz einfach übergelaufen ist vor Glück. Ähm ja, und wir haben dann noch Pommes geteilt und über die Zukunft geredet. Ich bin einfach nur unfassbar dankbar für diesen Menschen.“</a:t>
            </a:r>
            <a:endParaRPr lang="en-US" sz="1400" dirty="0"/>
          </a:p>
        </p:txBody>
      </p:sp>
      <p:sp>
        <p:nvSpPr>
          <p:cNvPr id="7" name="Text 4"/>
          <p:cNvSpPr/>
          <p:nvPr/>
        </p:nvSpPr>
        <p:spPr>
          <a:xfrm>
            <a:off x="5715000" y="3383280"/>
            <a:ext cx="502920" cy="640080"/>
          </a:xfrm>
          <a:prstGeom prst="rect">
            <a:avLst/>
          </a:prstGeom>
          <a:noFill/>
          <a:ln/>
        </p:spPr>
        <p:txBody>
          <a:bodyPr wrap="square" lIns="0" tIns="0" rIns="0" bIns="0" rtlCol="0" anchor="ctr"/>
          <a:lstStyle/>
          <a:p>
            <a:pPr algn="ctr" indent="0" marL="0">
              <a:buNone/>
            </a:pPr>
            <a:r>
              <a:rPr lang="en-US" sz="3000" b="1" dirty="0">
                <a:solidFill>
                  <a:srgbClr val="A26769"/>
                </a:solidFill>
                <a:latin typeface="Calibri" pitchFamily="34" charset="0"/>
                <a:ea typeface="Calibri" pitchFamily="34" charset="-122"/>
                <a:cs typeface="Calibri" pitchFamily="34" charset="-120"/>
              </a:rPr>
              <a:t>→</a:t>
            </a:r>
            <a:endParaRPr lang="en-US" sz="3000" dirty="0"/>
          </a:p>
        </p:txBody>
      </p:sp>
      <p:sp>
        <p:nvSpPr>
          <p:cNvPr id="8" name="Shape 5"/>
          <p:cNvSpPr/>
          <p:nvPr/>
        </p:nvSpPr>
        <p:spPr>
          <a:xfrm>
            <a:off x="6263640" y="1371600"/>
            <a:ext cx="5440680" cy="4754880"/>
          </a:xfrm>
          <a:prstGeom prst="roundRect">
            <a:avLst>
              <a:gd name="adj" fmla="val 2308"/>
            </a:avLst>
          </a:prstGeom>
          <a:solidFill>
            <a:srgbClr val="6D2E46"/>
          </a:solidFill>
          <a:ln/>
        </p:spPr>
      </p:sp>
      <p:sp>
        <p:nvSpPr>
          <p:cNvPr id="9" name="Text 6"/>
          <p:cNvSpPr/>
          <p:nvPr/>
        </p:nvSpPr>
        <p:spPr>
          <a:xfrm>
            <a:off x="6629400" y="1691640"/>
            <a:ext cx="4663440" cy="411480"/>
          </a:xfrm>
          <a:prstGeom prst="rect">
            <a:avLst/>
          </a:prstGeom>
          <a:noFill/>
          <a:ln/>
        </p:spPr>
        <p:txBody>
          <a:bodyPr wrap="square" lIns="0" tIns="0" rIns="0" bIns="0" rtlCol="0" anchor="ctr"/>
          <a:lstStyle/>
          <a:p>
            <a:pPr indent="0" marL="0">
              <a:buNone/>
            </a:pPr>
            <a:r>
              <a:rPr lang="en-US" sz="1600" b="1" dirty="0">
                <a:solidFill>
                  <a:srgbClr val="E8C9CE"/>
                </a:solidFill>
                <a:latin typeface="Cambria" pitchFamily="34" charset="0"/>
                <a:ea typeface="Cambria" pitchFamily="34" charset="-122"/>
                <a:cs typeface="Cambria" pitchFamily="34" charset="-120"/>
              </a:rPr>
              <a:t>Im Tagebuch-Doc</a:t>
            </a:r>
            <a:endParaRPr lang="en-US" sz="1600" dirty="0"/>
          </a:p>
        </p:txBody>
      </p:sp>
      <p:sp>
        <p:nvSpPr>
          <p:cNvPr id="10" name="Text 7"/>
          <p:cNvSpPr/>
          <p:nvPr/>
        </p:nvSpPr>
        <p:spPr>
          <a:xfrm>
            <a:off x="6629400" y="2286000"/>
            <a:ext cx="4709160" cy="3657600"/>
          </a:xfrm>
          <a:prstGeom prst="rect">
            <a:avLst/>
          </a:prstGeom>
          <a:noFill/>
          <a:ln/>
        </p:spPr>
        <p:txBody>
          <a:bodyPr wrap="square" lIns="0" tIns="0" rIns="0" bIns="0" rtlCol="0" anchor="t"/>
          <a:lstStyle/>
          <a:p>
            <a:pPr indent="0" marL="0">
              <a:spcAft>
                <a:spcPts val="1000"/>
              </a:spcAft>
              <a:buNone/>
            </a:pPr>
            <a:r>
              <a:rPr lang="en-US" sz="1250" b="1" dirty="0">
                <a:solidFill>
                  <a:srgbClr val="FFFFFF"/>
                </a:solidFill>
                <a:latin typeface="Calibri" pitchFamily="34" charset="0"/>
                <a:ea typeface="Calibri" pitchFamily="34" charset="-122"/>
                <a:cs typeface="Calibri" pitchFamily="34" charset="-120"/>
              </a:rPr>
              <a:t>8. Juli 2026 – Ein goldener Moment am Rhein (Kim)</a:t>
            </a:r>
            <a:endParaRPr lang="en-US" sz="1250" dirty="0"/>
          </a:p>
          <a:p>
            <a:pPr indent="0" marL="0">
              <a:spcAft>
                <a:spcPts val="200"/>
              </a:spcAft>
              <a:buNone/>
            </a:pPr>
            <a:r>
              <a:rPr lang="en-US" sz="1250" b="1" dirty="0">
                <a:solidFill>
                  <a:srgbClr val="FFFFFF"/>
                </a:solidFill>
                <a:latin typeface="Calibri" pitchFamily="34" charset="0"/>
                <a:ea typeface="Calibri" pitchFamily="34" charset="-122"/>
                <a:cs typeface="Calibri" pitchFamily="34" charset="-120"/>
              </a:rPr>
              <a:t>Was war los?</a:t>
            </a:r>
            <a:endParaRPr lang="en-US" sz="1250" dirty="0"/>
          </a:p>
          <a:p>
            <a:pPr indent="0" marL="0">
              <a:spcAft>
                <a:spcPts val="800"/>
              </a:spcAft>
              <a:buNone/>
            </a:pPr>
            <a:r>
              <a:rPr lang="en-US" sz="1250" dirty="0">
                <a:solidFill>
                  <a:srgbClr val="FFFFFF"/>
                </a:solidFill>
                <a:latin typeface="Calibri" pitchFamily="34" charset="0"/>
                <a:ea typeface="Calibri" pitchFamily="34" charset="-122"/>
                <a:cs typeface="Calibri" pitchFamily="34" charset="-120"/>
              </a:rPr>
              <a:t>Kathrin und ich haben am Abend einen Spaziergang am Rhein gemacht, während die Sonne unterging.</a:t>
            </a:r>
            <a:endParaRPr lang="en-US" sz="1250" dirty="0"/>
          </a:p>
          <a:p>
            <a:pPr indent="0" marL="0">
              <a:spcAft>
                <a:spcPts val="200"/>
              </a:spcAft>
              <a:buNone/>
            </a:pPr>
            <a:r>
              <a:rPr lang="en-US" sz="1250" b="1" dirty="0">
                <a:solidFill>
                  <a:srgbClr val="FFFFFF"/>
                </a:solidFill>
                <a:latin typeface="Calibri" pitchFamily="34" charset="0"/>
                <a:ea typeface="Calibri" pitchFamily="34" charset="-122"/>
                <a:cs typeface="Calibri" pitchFamily="34" charset="-120"/>
              </a:rPr>
              <a:t>Wie war es?</a:t>
            </a:r>
            <a:endParaRPr lang="en-US" sz="1250" dirty="0"/>
          </a:p>
          <a:p>
            <a:pPr indent="0" marL="0">
              <a:spcAft>
                <a:spcPts val="800"/>
              </a:spcAft>
              <a:buNone/>
            </a:pPr>
            <a:r>
              <a:rPr lang="en-US" sz="1250" dirty="0">
                <a:solidFill>
                  <a:srgbClr val="FFFFFF"/>
                </a:solidFill>
                <a:latin typeface="Calibri" pitchFamily="34" charset="0"/>
                <a:ea typeface="Calibri" pitchFamily="34" charset="-122"/>
                <a:cs typeface="Calibri" pitchFamily="34" charset="-120"/>
              </a:rPr>
              <a:t>Alles leuchtete golden. Ich war einfach überglücklich, mir ist das Herz förmlich übergelaufen. …</a:t>
            </a:r>
            <a:endParaRPr lang="en-US" sz="1250" dirty="0"/>
          </a:p>
          <a:p>
            <a:pPr indent="0" marL="0">
              <a:spcAft>
                <a:spcPts val="200"/>
              </a:spcAft>
              <a:buNone/>
            </a:pPr>
            <a:r>
              <a:rPr lang="en-US" sz="1250" b="1" dirty="0">
                <a:solidFill>
                  <a:srgbClr val="FFFFFF"/>
                </a:solidFill>
                <a:latin typeface="Calibri" pitchFamily="34" charset="0"/>
                <a:ea typeface="Calibri" pitchFamily="34" charset="-122"/>
                <a:cs typeface="Calibri" pitchFamily="34" charset="-120"/>
              </a:rPr>
              <a:t>Gedanken danach</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Ich bin einfach nur unfassbar dankbar, diesen Menschen an meiner Seite zu haben.</a:t>
            </a:r>
            <a:endParaRPr lang="en-US" sz="1250" dirty="0"/>
          </a:p>
        </p:txBody>
      </p:sp>
      <p:sp>
        <p:nvSpPr>
          <p:cNvPr id="11" name="Text 8"/>
          <p:cNvSpPr/>
          <p:nvPr/>
        </p:nvSpPr>
        <p:spPr>
          <a:xfrm>
            <a:off x="502920" y="6473952"/>
            <a:ext cx="2743200" cy="274320"/>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VoiceCore · Juli 2026</a:t>
            </a:r>
            <a:endParaRPr lang="en-US" sz="900" dirty="0"/>
          </a:p>
        </p:txBody>
      </p:sp>
      <p:sp>
        <p:nvSpPr>
          <p:cNvPr id="12" name="Text 9"/>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68580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Technik &amp; Kosten</a:t>
            </a:r>
            <a:endParaRPr lang="en-US" sz="3400" dirty="0"/>
          </a:p>
        </p:txBody>
      </p:sp>
      <p:sp>
        <p:nvSpPr>
          <p:cNvPr id="3" name="Shape 1"/>
          <p:cNvSpPr/>
          <p:nvPr/>
        </p:nvSpPr>
        <p:spPr>
          <a:xfrm>
            <a:off x="548640" y="1508760"/>
            <a:ext cx="658368" cy="658368"/>
          </a:xfrm>
          <a:prstGeom prst="ellipse">
            <a:avLst/>
          </a:prstGeom>
          <a:solidFill>
            <a:srgbClr val="6D2E46"/>
          </a:solidFill>
          <a:ln/>
        </p:spPr>
      </p:sp>
      <p:pic>
        <p:nvPicPr>
          <p:cNvPr id="4" name="Image 0" descr="preencoded.png">    </p:cNvPr>
          <p:cNvPicPr>
            <a:picLocks noChangeAspect="1"/>
          </p:cNvPicPr>
          <p:nvPr/>
        </p:nvPicPr>
        <p:blipFill>
          <a:blip r:embed="rId1"/>
          <a:stretch>
            <a:fillRect/>
          </a:stretch>
        </p:blipFill>
        <p:spPr>
          <a:xfrm>
            <a:off x="719816" y="1679936"/>
            <a:ext cx="316017" cy="316017"/>
          </a:xfrm>
          <a:prstGeom prst="rect">
            <a:avLst/>
          </a:prstGeom>
        </p:spPr>
      </p:pic>
      <p:sp>
        <p:nvSpPr>
          <p:cNvPr id="5" name="Text 2"/>
          <p:cNvSpPr/>
          <p:nvPr/>
        </p:nvSpPr>
        <p:spPr>
          <a:xfrm>
            <a:off x="1417320" y="1508760"/>
            <a:ext cx="1600200" cy="658368"/>
          </a:xfrm>
          <a:prstGeom prst="rect">
            <a:avLst/>
          </a:prstGeom>
          <a:noFill/>
          <a:ln/>
        </p:spPr>
        <p:txBody>
          <a:bodyPr wrap="square" lIns="0" tIns="0" rIns="0" bIns="0" rtlCol="0" anchor="ctr"/>
          <a:lstStyle/>
          <a:p>
            <a:pPr indent="0" marL="0">
              <a:buNone/>
            </a:pPr>
            <a:r>
              <a:rPr lang="en-US" sz="1600" b="1" dirty="0">
                <a:solidFill>
                  <a:srgbClr val="6D2E46"/>
                </a:solidFill>
                <a:latin typeface="Cambria" pitchFamily="34" charset="0"/>
                <a:ea typeface="Cambria" pitchFamily="34" charset="-122"/>
                <a:cs typeface="Cambria" pitchFamily="34" charset="-120"/>
              </a:rPr>
              <a:t>Frontend</a:t>
            </a:r>
            <a:endParaRPr lang="en-US" sz="1600" dirty="0"/>
          </a:p>
        </p:txBody>
      </p:sp>
      <p:sp>
        <p:nvSpPr>
          <p:cNvPr id="6" name="Text 3"/>
          <p:cNvSpPr/>
          <p:nvPr/>
        </p:nvSpPr>
        <p:spPr>
          <a:xfrm>
            <a:off x="3017520" y="1508760"/>
            <a:ext cx="4114800" cy="658368"/>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React-Web-App (PWA) — läuft im Browser, kein App-Store nötig</a:t>
            </a:r>
            <a:endParaRPr lang="en-US" sz="1250" dirty="0"/>
          </a:p>
        </p:txBody>
      </p:sp>
      <p:sp>
        <p:nvSpPr>
          <p:cNvPr id="7" name="Shape 4"/>
          <p:cNvSpPr/>
          <p:nvPr/>
        </p:nvSpPr>
        <p:spPr>
          <a:xfrm>
            <a:off x="548640" y="2624328"/>
            <a:ext cx="658368" cy="658368"/>
          </a:xfrm>
          <a:prstGeom prst="ellipse">
            <a:avLst/>
          </a:prstGeom>
          <a:solidFill>
            <a:srgbClr val="6D2E46"/>
          </a:solidFill>
          <a:ln/>
        </p:spPr>
      </p:sp>
      <p:pic>
        <p:nvPicPr>
          <p:cNvPr id="8" name="Image 1" descr="preencoded.png">    </p:cNvPr>
          <p:cNvPicPr>
            <a:picLocks noChangeAspect="1"/>
          </p:cNvPicPr>
          <p:nvPr/>
        </p:nvPicPr>
        <p:blipFill>
          <a:blip r:embed="rId2"/>
          <a:stretch>
            <a:fillRect/>
          </a:stretch>
        </p:blipFill>
        <p:spPr>
          <a:xfrm>
            <a:off x="719816" y="2795504"/>
            <a:ext cx="316017" cy="316017"/>
          </a:xfrm>
          <a:prstGeom prst="rect">
            <a:avLst/>
          </a:prstGeom>
        </p:spPr>
      </p:pic>
      <p:sp>
        <p:nvSpPr>
          <p:cNvPr id="9" name="Text 5"/>
          <p:cNvSpPr/>
          <p:nvPr/>
        </p:nvSpPr>
        <p:spPr>
          <a:xfrm>
            <a:off x="1417320" y="2624328"/>
            <a:ext cx="1600200" cy="658368"/>
          </a:xfrm>
          <a:prstGeom prst="rect">
            <a:avLst/>
          </a:prstGeom>
          <a:noFill/>
          <a:ln/>
        </p:spPr>
        <p:txBody>
          <a:bodyPr wrap="square" lIns="0" tIns="0" rIns="0" bIns="0" rtlCol="0" anchor="ctr"/>
          <a:lstStyle/>
          <a:p>
            <a:pPr indent="0" marL="0">
              <a:buNone/>
            </a:pPr>
            <a:r>
              <a:rPr lang="en-US" sz="1600" b="1" dirty="0">
                <a:solidFill>
                  <a:srgbClr val="6D2E46"/>
                </a:solidFill>
                <a:latin typeface="Cambria" pitchFamily="34" charset="0"/>
                <a:ea typeface="Cambria" pitchFamily="34" charset="-122"/>
                <a:cs typeface="Cambria" pitchFamily="34" charset="-120"/>
              </a:rPr>
              <a:t>Backend</a:t>
            </a:r>
            <a:endParaRPr lang="en-US" sz="1600" dirty="0"/>
          </a:p>
        </p:txBody>
      </p:sp>
      <p:sp>
        <p:nvSpPr>
          <p:cNvPr id="10" name="Text 6"/>
          <p:cNvSpPr/>
          <p:nvPr/>
        </p:nvSpPr>
        <p:spPr>
          <a:xfrm>
            <a:off x="3017520" y="2624328"/>
            <a:ext cx="4114800" cy="658368"/>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Python/FastAPI auf Render.com — Gratis-Tarif, Region Frankfurt</a:t>
            </a:r>
            <a:endParaRPr lang="en-US" sz="1250" dirty="0"/>
          </a:p>
        </p:txBody>
      </p:sp>
      <p:sp>
        <p:nvSpPr>
          <p:cNvPr id="11" name="Shape 7"/>
          <p:cNvSpPr/>
          <p:nvPr/>
        </p:nvSpPr>
        <p:spPr>
          <a:xfrm>
            <a:off x="548640" y="3739896"/>
            <a:ext cx="658368" cy="658368"/>
          </a:xfrm>
          <a:prstGeom prst="ellipse">
            <a:avLst/>
          </a:prstGeom>
          <a:solidFill>
            <a:srgbClr val="6D2E46"/>
          </a:solidFill>
          <a:ln/>
        </p:spPr>
      </p:sp>
      <p:pic>
        <p:nvPicPr>
          <p:cNvPr id="12" name="Image 2" descr="preencoded.png">    </p:cNvPr>
          <p:cNvPicPr>
            <a:picLocks noChangeAspect="1"/>
          </p:cNvPicPr>
          <p:nvPr/>
        </p:nvPicPr>
        <p:blipFill>
          <a:blip r:embed="rId3"/>
          <a:stretch>
            <a:fillRect/>
          </a:stretch>
        </p:blipFill>
        <p:spPr>
          <a:xfrm>
            <a:off x="719816" y="3911072"/>
            <a:ext cx="316017" cy="316017"/>
          </a:xfrm>
          <a:prstGeom prst="rect">
            <a:avLst/>
          </a:prstGeom>
        </p:spPr>
      </p:pic>
      <p:sp>
        <p:nvSpPr>
          <p:cNvPr id="13" name="Text 8"/>
          <p:cNvSpPr/>
          <p:nvPr/>
        </p:nvSpPr>
        <p:spPr>
          <a:xfrm>
            <a:off x="1417320" y="3739896"/>
            <a:ext cx="1600200" cy="658368"/>
          </a:xfrm>
          <a:prstGeom prst="rect">
            <a:avLst/>
          </a:prstGeom>
          <a:noFill/>
          <a:ln/>
        </p:spPr>
        <p:txBody>
          <a:bodyPr wrap="square" lIns="0" tIns="0" rIns="0" bIns="0" rtlCol="0" anchor="ctr"/>
          <a:lstStyle/>
          <a:p>
            <a:pPr indent="0" marL="0">
              <a:buNone/>
            </a:pPr>
            <a:r>
              <a:rPr lang="en-US" sz="1600" b="1" dirty="0">
                <a:solidFill>
                  <a:srgbClr val="6D2E46"/>
                </a:solidFill>
                <a:latin typeface="Cambria" pitchFamily="34" charset="0"/>
                <a:ea typeface="Cambria" pitchFamily="34" charset="-122"/>
                <a:cs typeface="Cambria" pitchFamily="34" charset="-120"/>
              </a:rPr>
              <a:t>KI</a:t>
            </a:r>
            <a:endParaRPr lang="en-US" sz="1600" dirty="0"/>
          </a:p>
        </p:txBody>
      </p:sp>
      <p:sp>
        <p:nvSpPr>
          <p:cNvPr id="14" name="Text 9"/>
          <p:cNvSpPr/>
          <p:nvPr/>
        </p:nvSpPr>
        <p:spPr>
          <a:xfrm>
            <a:off x="3017520" y="3739896"/>
            <a:ext cx="4114800" cy="658368"/>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Google Gemini 3.1 Flash-Lite — kostenloses Kontingent, ein Aufruf pro Notiz</a:t>
            </a:r>
            <a:endParaRPr lang="en-US" sz="1250" dirty="0"/>
          </a:p>
        </p:txBody>
      </p:sp>
      <p:sp>
        <p:nvSpPr>
          <p:cNvPr id="15" name="Shape 10"/>
          <p:cNvSpPr/>
          <p:nvPr/>
        </p:nvSpPr>
        <p:spPr>
          <a:xfrm>
            <a:off x="548640" y="4855464"/>
            <a:ext cx="658368" cy="658368"/>
          </a:xfrm>
          <a:prstGeom prst="ellipse">
            <a:avLst/>
          </a:prstGeom>
          <a:solidFill>
            <a:srgbClr val="6D2E46"/>
          </a:solidFill>
          <a:ln/>
        </p:spPr>
      </p:sp>
      <p:pic>
        <p:nvPicPr>
          <p:cNvPr id="16" name="Image 3" descr="preencoded.png">    </p:cNvPr>
          <p:cNvPicPr>
            <a:picLocks noChangeAspect="1"/>
          </p:cNvPicPr>
          <p:nvPr/>
        </p:nvPicPr>
        <p:blipFill>
          <a:blip r:embed="rId4"/>
          <a:stretch>
            <a:fillRect/>
          </a:stretch>
        </p:blipFill>
        <p:spPr>
          <a:xfrm>
            <a:off x="719816" y="5026640"/>
            <a:ext cx="316017" cy="316017"/>
          </a:xfrm>
          <a:prstGeom prst="rect">
            <a:avLst/>
          </a:prstGeom>
        </p:spPr>
      </p:pic>
      <p:sp>
        <p:nvSpPr>
          <p:cNvPr id="17" name="Text 11"/>
          <p:cNvSpPr/>
          <p:nvPr/>
        </p:nvSpPr>
        <p:spPr>
          <a:xfrm>
            <a:off x="1417320" y="4855464"/>
            <a:ext cx="1600200" cy="658368"/>
          </a:xfrm>
          <a:prstGeom prst="rect">
            <a:avLst/>
          </a:prstGeom>
          <a:noFill/>
          <a:ln/>
        </p:spPr>
        <p:txBody>
          <a:bodyPr wrap="square" lIns="0" tIns="0" rIns="0" bIns="0" rtlCol="0" anchor="ctr"/>
          <a:lstStyle/>
          <a:p>
            <a:pPr indent="0" marL="0">
              <a:buNone/>
            </a:pPr>
            <a:r>
              <a:rPr lang="en-US" sz="1600" b="1" dirty="0">
                <a:solidFill>
                  <a:srgbClr val="6D2E46"/>
                </a:solidFill>
                <a:latin typeface="Cambria" pitchFamily="34" charset="0"/>
                <a:ea typeface="Cambria" pitchFamily="34" charset="-122"/>
                <a:cs typeface="Cambria" pitchFamily="34" charset="-120"/>
              </a:rPr>
              <a:t>Speicher</a:t>
            </a:r>
            <a:endParaRPr lang="en-US" sz="1600" dirty="0"/>
          </a:p>
        </p:txBody>
      </p:sp>
      <p:sp>
        <p:nvSpPr>
          <p:cNvPr id="18" name="Text 12"/>
          <p:cNvSpPr/>
          <p:nvPr/>
        </p:nvSpPr>
        <p:spPr>
          <a:xfrm>
            <a:off x="3017520" y="4855464"/>
            <a:ext cx="4114800" cy="658368"/>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Google Docs API — die Daten bleiben komplett im eigenen Google-Konto</a:t>
            </a:r>
            <a:endParaRPr lang="en-US" sz="1250" dirty="0"/>
          </a:p>
        </p:txBody>
      </p:sp>
      <p:sp>
        <p:nvSpPr>
          <p:cNvPr id="19" name="Shape 13"/>
          <p:cNvSpPr/>
          <p:nvPr/>
        </p:nvSpPr>
        <p:spPr>
          <a:xfrm>
            <a:off x="7635240" y="1463040"/>
            <a:ext cx="4069080" cy="1371600"/>
          </a:xfrm>
          <a:prstGeom prst="roundRect">
            <a:avLst>
              <a:gd name="adj" fmla="val 6667"/>
            </a:avLst>
          </a:prstGeom>
          <a:solidFill>
            <a:srgbClr val="F6F0EA"/>
          </a:solidFill>
          <a:ln/>
        </p:spPr>
      </p:sp>
      <p:sp>
        <p:nvSpPr>
          <p:cNvPr id="20" name="Text 14"/>
          <p:cNvSpPr/>
          <p:nvPr/>
        </p:nvSpPr>
        <p:spPr>
          <a:xfrm>
            <a:off x="7863840" y="1572768"/>
            <a:ext cx="1737360" cy="1143000"/>
          </a:xfrm>
          <a:prstGeom prst="rect">
            <a:avLst/>
          </a:prstGeom>
          <a:noFill/>
          <a:ln/>
        </p:spPr>
        <p:txBody>
          <a:bodyPr wrap="square" lIns="0" tIns="0" rIns="0" bIns="0" rtlCol="0" anchor="ctr"/>
          <a:lstStyle/>
          <a:p>
            <a:pPr indent="0" marL="0">
              <a:buNone/>
            </a:pPr>
            <a:r>
              <a:rPr lang="en-US" sz="3800" b="1" dirty="0">
                <a:solidFill>
                  <a:srgbClr val="6D2E46"/>
                </a:solidFill>
                <a:latin typeface="Cambria" pitchFamily="34" charset="0"/>
                <a:ea typeface="Cambria" pitchFamily="34" charset="-122"/>
                <a:cs typeface="Cambria" pitchFamily="34" charset="-120"/>
              </a:rPr>
              <a:t>0 €</a:t>
            </a:r>
            <a:endParaRPr lang="en-US" sz="3800" dirty="0"/>
          </a:p>
        </p:txBody>
      </p:sp>
      <p:sp>
        <p:nvSpPr>
          <p:cNvPr id="21" name="Text 15"/>
          <p:cNvSpPr/>
          <p:nvPr/>
        </p:nvSpPr>
        <p:spPr>
          <a:xfrm>
            <a:off x="9646920" y="1572768"/>
            <a:ext cx="1920240" cy="114300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laufende Kosten pro Monat</a:t>
            </a:r>
            <a:endParaRPr lang="en-US" sz="1200" dirty="0"/>
          </a:p>
        </p:txBody>
      </p:sp>
      <p:sp>
        <p:nvSpPr>
          <p:cNvPr id="22" name="Shape 16"/>
          <p:cNvSpPr/>
          <p:nvPr/>
        </p:nvSpPr>
        <p:spPr>
          <a:xfrm>
            <a:off x="7635240" y="3035808"/>
            <a:ext cx="4069080" cy="1371600"/>
          </a:xfrm>
          <a:prstGeom prst="roundRect">
            <a:avLst>
              <a:gd name="adj" fmla="val 6667"/>
            </a:avLst>
          </a:prstGeom>
          <a:solidFill>
            <a:srgbClr val="F6F0EA"/>
          </a:solidFill>
          <a:ln/>
        </p:spPr>
      </p:sp>
      <p:sp>
        <p:nvSpPr>
          <p:cNvPr id="23" name="Text 17"/>
          <p:cNvSpPr/>
          <p:nvPr/>
        </p:nvSpPr>
        <p:spPr>
          <a:xfrm>
            <a:off x="7863840" y="3145536"/>
            <a:ext cx="1737360" cy="1143000"/>
          </a:xfrm>
          <a:prstGeom prst="rect">
            <a:avLst/>
          </a:prstGeom>
          <a:noFill/>
          <a:ln/>
        </p:spPr>
        <p:txBody>
          <a:bodyPr wrap="square" lIns="0" tIns="0" rIns="0" bIns="0" rtlCol="0" anchor="ctr"/>
          <a:lstStyle/>
          <a:p>
            <a:pPr indent="0" marL="0">
              <a:buNone/>
            </a:pPr>
            <a:r>
              <a:rPr lang="en-US" sz="3800" b="1" dirty="0">
                <a:solidFill>
                  <a:srgbClr val="6D2E46"/>
                </a:solidFill>
                <a:latin typeface="Cambria" pitchFamily="34" charset="0"/>
                <a:ea typeface="Cambria" pitchFamily="34" charset="-122"/>
                <a:cs typeface="Cambria" pitchFamily="34" charset="-120"/>
              </a:rPr>
              <a:t>6</a:t>
            </a:r>
            <a:endParaRPr lang="en-US" sz="3800" dirty="0"/>
          </a:p>
        </p:txBody>
      </p:sp>
      <p:sp>
        <p:nvSpPr>
          <p:cNvPr id="24" name="Text 18"/>
          <p:cNvSpPr/>
          <p:nvPr/>
        </p:nvSpPr>
        <p:spPr>
          <a:xfrm>
            <a:off x="9646920" y="3145536"/>
            <a:ext cx="1920240" cy="114300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Iterationen von der Idee bis v0.6 (Feb–Jul 2026)</a:t>
            </a:r>
            <a:endParaRPr lang="en-US" sz="1200" dirty="0"/>
          </a:p>
        </p:txBody>
      </p:sp>
      <p:sp>
        <p:nvSpPr>
          <p:cNvPr id="25" name="Shape 19"/>
          <p:cNvSpPr/>
          <p:nvPr/>
        </p:nvSpPr>
        <p:spPr>
          <a:xfrm>
            <a:off x="7635240" y="4608576"/>
            <a:ext cx="4069080" cy="1371600"/>
          </a:xfrm>
          <a:prstGeom prst="roundRect">
            <a:avLst>
              <a:gd name="adj" fmla="val 6667"/>
            </a:avLst>
          </a:prstGeom>
          <a:solidFill>
            <a:srgbClr val="F6F0EA"/>
          </a:solidFill>
          <a:ln/>
        </p:spPr>
      </p:sp>
      <p:sp>
        <p:nvSpPr>
          <p:cNvPr id="26" name="Text 20"/>
          <p:cNvSpPr/>
          <p:nvPr/>
        </p:nvSpPr>
        <p:spPr>
          <a:xfrm>
            <a:off x="7863840" y="4718304"/>
            <a:ext cx="1737360" cy="1143000"/>
          </a:xfrm>
          <a:prstGeom prst="rect">
            <a:avLst/>
          </a:prstGeom>
          <a:noFill/>
          <a:ln/>
        </p:spPr>
        <p:txBody>
          <a:bodyPr wrap="square" lIns="0" tIns="0" rIns="0" bIns="0" rtlCol="0" anchor="ctr"/>
          <a:lstStyle/>
          <a:p>
            <a:pPr indent="0" marL="0">
              <a:buNone/>
            </a:pPr>
            <a:r>
              <a:rPr lang="en-US" sz="3800" b="1" dirty="0">
                <a:solidFill>
                  <a:srgbClr val="6D2E46"/>
                </a:solidFill>
                <a:latin typeface="Cambria" pitchFamily="34" charset="0"/>
                <a:ea typeface="Cambria" pitchFamily="34" charset="-122"/>
                <a:cs typeface="Cambria" pitchFamily="34" charset="-120"/>
              </a:rPr>
              <a:t>100 %</a:t>
            </a:r>
            <a:endParaRPr lang="en-US" sz="3800" dirty="0"/>
          </a:p>
        </p:txBody>
      </p:sp>
      <p:sp>
        <p:nvSpPr>
          <p:cNvPr id="27" name="Text 21"/>
          <p:cNvSpPr/>
          <p:nvPr/>
        </p:nvSpPr>
        <p:spPr>
          <a:xfrm>
            <a:off x="9646920" y="4718304"/>
            <a:ext cx="1920240" cy="1143000"/>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der Daten im eigenen Google-Konto</a:t>
            </a:r>
            <a:endParaRPr lang="en-US" sz="1200" dirty="0"/>
          </a:p>
        </p:txBody>
      </p:sp>
      <p:sp>
        <p:nvSpPr>
          <p:cNvPr id="28" name="Text 22"/>
          <p:cNvSpPr/>
          <p:nvPr/>
        </p:nvSpPr>
        <p:spPr>
          <a:xfrm>
            <a:off x="548640" y="5989320"/>
            <a:ext cx="10972800" cy="365760"/>
          </a:xfrm>
          <a:prstGeom prst="rect">
            <a:avLst/>
          </a:prstGeom>
          <a:noFill/>
          <a:ln/>
        </p:spPr>
        <p:txBody>
          <a:bodyPr wrap="square" lIns="0" tIns="0" rIns="0" bIns="0" rtlCol="0" anchor="ctr"/>
          <a:lstStyle/>
          <a:p>
            <a:pPr indent="0" marL="0">
              <a:buNone/>
            </a:pPr>
            <a:r>
              <a:rPr lang="en-US" sz="1250" i="1" dirty="0">
                <a:solidFill>
                  <a:srgbClr val="8A8A8A"/>
                </a:solidFill>
                <a:latin typeface="Calibri" pitchFamily="34" charset="0"/>
                <a:ea typeface="Calibri" pitchFamily="34" charset="-122"/>
                <a:cs typeface="Calibri" pitchFamily="34" charset="-120"/>
              </a:rPr>
              <a:t>Entwickelt in Pair-Arbeit mit Claude (KI-Coding-Agent) — jede Iteration sofort live getestet.</a:t>
            </a:r>
            <a:endParaRPr lang="en-US" sz="1250" dirty="0"/>
          </a:p>
        </p:txBody>
      </p:sp>
      <p:sp>
        <p:nvSpPr>
          <p:cNvPr id="29" name="Text 23"/>
          <p:cNvSpPr/>
          <p:nvPr/>
        </p:nvSpPr>
        <p:spPr>
          <a:xfrm>
            <a:off x="502920" y="6473952"/>
            <a:ext cx="2743200" cy="274320"/>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VoiceCore · Juli 2026</a:t>
            </a:r>
            <a:endParaRPr lang="en-US" sz="900" dirty="0"/>
          </a:p>
        </p:txBody>
      </p:sp>
      <p:sp>
        <p:nvSpPr>
          <p:cNvPr id="30" name="Text 24"/>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68580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Gibt es das schon?</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201400" cy="914400"/>
        </p:xfrm>
        <a:graphic>
          <a:graphicData uri="http://schemas.openxmlformats.org/drawingml/2006/table">
            <a:tbl>
              <a:tblPr/>
              <a:tblGrid>
                <a:gridCol w="3520440"/>
                <a:gridCol w="1554480"/>
                <a:gridCol w="1783080"/>
                <a:gridCol w="2148840"/>
                <a:gridCol w="2194560"/>
              </a:tblGrid>
              <a:tr h="685800">
                <a:tc>
                  <a:txBody>
                    <a:bodyPr/>
                    <a:lstStyle/>
                    <a:p>
                      <a:pPr indent="0" marL="0">
                        <a:buNone/>
                      </a:pPr>
                      <a:endParaRPr lang="en-US" sz="1300" dirty="0">
                        <a:latin typeface="Cambria" charset="0"/>
                        <a:ea typeface="Cambria" charset="0"/>
                        <a:cs typeface="Cambria"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solidFill>
                      <a:srgbClr val="6D2E46"/>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VoiceCore</a:t>
                      </a:r>
                      <a:endParaRPr lang="en-US" sz="1300" dirty="0">
                        <a:latin typeface="Cambria" charset="0"/>
                        <a:ea typeface="Cambria" charset="0"/>
                        <a:cs typeface="Cambria"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solidFill>
                      <a:srgbClr val="6D2E46"/>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AudioPen</a:t>
                      </a:r>
                      <a:endParaRPr lang="en-US" sz="1300" dirty="0">
                        <a:latin typeface="Cambria" charset="0"/>
                        <a:ea typeface="Cambria" charset="0"/>
                        <a:cs typeface="Cambria"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solidFill>
                      <a:srgbClr val="6D2E46"/>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Voicenotes</a:t>
                      </a:r>
                      <a:endParaRPr lang="en-US" sz="1300" dirty="0">
                        <a:latin typeface="Cambria" charset="0"/>
                        <a:ea typeface="Cambria" charset="0"/>
                        <a:cs typeface="Cambria"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solidFill>
                      <a:srgbClr val="6D2E46"/>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Gemini in Google Docs</a:t>
                      </a:r>
                      <a:endParaRPr lang="en-US" sz="1300" dirty="0">
                        <a:latin typeface="Cambria" charset="0"/>
                        <a:ea typeface="Cambria" charset="0"/>
                        <a:cs typeface="Cambria"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solidFill>
                      <a:srgbClr val="6D2E46"/>
                    </a:solidFill>
                  </a:tcPr>
                </a:tc>
              </a:tr>
              <a:tr h="685800">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Preis</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2A9D5C"/>
                          </a:solidFill>
                          <a:latin typeface="Calibri" pitchFamily="34" charset="0"/>
                          <a:ea typeface="Calibri" pitchFamily="34" charset="-122"/>
                          <a:cs typeface="Calibri" pitchFamily="34" charset="-120"/>
                        </a:rPr>
                        <a:t>0 €</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ca. 99 $/Jahr</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15 $/Monat bzw. 100 $/Jahr</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im Google-Abo</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r>
              <a:tr h="685800">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Schreibt ins eigene, bestehende Google Doc</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2A9D5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teils — erstellt bevorzugt neue Docs</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r>
              <a:tr h="685800">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Eigene feste Vorlagen (Tagebuch, Review …)</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2A9D5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teils</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teils</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r>
              <a:tr h="685800">
                <a:tc>
                  <a:txBody>
                    <a:bodyPr/>
                    <a:lstStyle/>
                    <a:p>
                      <a:pPr indent="0" marL="0">
                        <a:buNone/>
                      </a:pPr>
                      <a:r>
                        <a:rPr lang="en-US" sz="1200" b="1" dirty="0">
                          <a:solidFill>
                            <a:srgbClr val="2B2B2B"/>
                          </a:solidFill>
                          <a:latin typeface="Calibri" pitchFamily="34" charset="0"/>
                          <a:ea typeface="Calibri" pitchFamily="34" charset="-122"/>
                          <a:cs typeface="Calibri" pitchFamily="34" charset="-120"/>
                        </a:rPr>
                        <a:t>Ein Tap vom Homescreen, ohne Chat-Dialog</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2A9D5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2A9D5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2A9D5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3D9CE"/>
                      </a:solidFill>
                      <a:prstDash val="solid"/>
                      <a:round/>
                      <a:headEnd type="none" w="med" len="med"/>
                      <a:tailEnd type="none" w="med" len="med"/>
                    </a:lnL>
                    <a:lnR w="12700" cap="flat" cmpd="sng" algn="ctr">
                      <a:solidFill>
                        <a:srgbClr val="E3D9CE"/>
                      </a:solidFill>
                      <a:prstDash val="solid"/>
                      <a:round/>
                      <a:headEnd type="none" w="med" len="med"/>
                      <a:tailEnd type="none" w="med" len="med"/>
                    </a:lnR>
                    <a:lnT w="12700" cap="flat" cmpd="sng" algn="ctr">
                      <a:solidFill>
                        <a:srgbClr val="E3D9CE"/>
                      </a:solidFill>
                      <a:prstDash val="solid"/>
                      <a:round/>
                      <a:headEnd type="none" w="med" len="med"/>
                      <a:tailEnd type="none" w="med" len="med"/>
                    </a:lnT>
                    <a:lnB w="12700" cap="flat" cmpd="sng" algn="ctr">
                      <a:solidFill>
                        <a:srgbClr val="E3D9CE"/>
                      </a:solidFill>
                      <a:prstDash val="solid"/>
                      <a:round/>
                      <a:headEnd type="none" w="med" len="med"/>
                      <a:tailEnd type="none" w="med" len="med"/>
                    </a:lnB>
                  </a:tcPr>
                </a:tc>
              </a:tr>
            </a:tbl>
          </a:graphicData>
        </a:graphic>
      </p:graphicFrame>
      <p:sp>
        <p:nvSpPr>
          <p:cNvPr id="4" name="Shape 1"/>
          <p:cNvSpPr/>
          <p:nvPr/>
        </p:nvSpPr>
        <p:spPr>
          <a:xfrm>
            <a:off x="502920" y="5212080"/>
            <a:ext cx="11201400" cy="914400"/>
          </a:xfrm>
          <a:prstGeom prst="roundRect">
            <a:avLst>
              <a:gd name="adj" fmla="val 10000"/>
            </a:avLst>
          </a:prstGeom>
          <a:solidFill>
            <a:srgbClr val="F6F0EA"/>
          </a:solidFill>
          <a:ln/>
        </p:spPr>
      </p:sp>
      <p:pic>
        <p:nvPicPr>
          <p:cNvPr id="5" name="Image 0" descr="preencoded.png">    </p:cNvPr>
          <p:cNvPicPr>
            <a:picLocks noChangeAspect="1"/>
          </p:cNvPicPr>
          <p:nvPr/>
        </p:nvPicPr>
        <p:blipFill>
          <a:blip r:embed="rId1"/>
          <a:stretch>
            <a:fillRect/>
          </a:stretch>
        </p:blipFill>
        <p:spPr>
          <a:xfrm>
            <a:off x="822960" y="5440680"/>
            <a:ext cx="457200" cy="457200"/>
          </a:xfrm>
          <a:prstGeom prst="rect">
            <a:avLst/>
          </a:prstGeom>
        </p:spPr>
      </p:pic>
      <p:sp>
        <p:nvSpPr>
          <p:cNvPr id="6" name="Text 2"/>
          <p:cNvSpPr/>
          <p:nvPr/>
        </p:nvSpPr>
        <p:spPr>
          <a:xfrm>
            <a:off x="1463040" y="5321808"/>
            <a:ext cx="10058400" cy="713232"/>
          </a:xfrm>
          <a:prstGeom prst="rect">
            <a:avLst/>
          </a:prstGeom>
          <a:noFill/>
          <a:ln/>
        </p:spPr>
        <p:txBody>
          <a:bodyPr wrap="square" lIns="0" tIns="0" rIns="0" bIns="0" rtlCol="0" anchor="ctr"/>
          <a:lstStyle/>
          <a:p>
            <a:pPr indent="0" marL="0">
              <a:buNone/>
            </a:pPr>
            <a:r>
              <a:rPr lang="en-US" sz="1400" b="1" dirty="0">
                <a:solidFill>
                  <a:srgbClr val="6D2E46"/>
                </a:solidFill>
                <a:latin typeface="Calibri" pitchFamily="34" charset="0"/>
                <a:ea typeface="Calibri" pitchFamily="34" charset="-122"/>
                <a:cs typeface="Calibri" pitchFamily="34" charset="-120"/>
              </a:rPr>
              <a:t>Die Kombination „ein Tap → eigene Vorlage → bestimmtes Google Doc“ bietet aktuell kein anderer Anbieter. Genau diese Lücke füllt VoiceCore.</a:t>
            </a:r>
            <a:endParaRPr lang="en-US" sz="1400" dirty="0"/>
          </a:p>
        </p:txBody>
      </p:sp>
      <p:sp>
        <p:nvSpPr>
          <p:cNvPr id="7" name="Text 3"/>
          <p:cNvSpPr/>
          <p:nvPr/>
        </p:nvSpPr>
        <p:spPr>
          <a:xfrm>
            <a:off x="502920" y="6473952"/>
            <a:ext cx="2743200" cy="274320"/>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VoiceCore · Juli 2026</a:t>
            </a:r>
            <a:endParaRPr lang="en-US" sz="900" dirty="0"/>
          </a:p>
        </p:txBody>
      </p:sp>
      <p:sp>
        <p:nvSpPr>
          <p:cNvPr id="8" name="Text 4"/>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685800"/>
          </a:xfrm>
          <a:prstGeom prst="rect">
            <a:avLst/>
          </a:prstGeom>
          <a:noFill/>
          <a:ln/>
        </p:spPr>
        <p:txBody>
          <a:bodyPr wrap="square" lIns="0" tIns="0" rIns="0" bIns="0" rtlCol="0" anchor="ctr"/>
          <a:lstStyle/>
          <a:p>
            <a:pPr indent="0" marL="0">
              <a:buNone/>
            </a:pPr>
            <a:r>
              <a:rPr lang="en-US" sz="3400" b="1" dirty="0">
                <a:solidFill>
                  <a:srgbClr val="6D2E46"/>
                </a:solidFill>
                <a:latin typeface="Cambria" pitchFamily="34" charset="0"/>
                <a:ea typeface="Cambria" pitchFamily="34" charset="-122"/>
                <a:cs typeface="Cambria" pitchFamily="34" charset="-120"/>
              </a:rPr>
              <a:t>Businesspotenzial &amp; App Store — ehrlich betrachtet</a:t>
            </a:r>
            <a:endParaRPr lang="en-US" sz="3400" dirty="0"/>
          </a:p>
        </p:txBody>
      </p:sp>
      <p:sp>
        <p:nvSpPr>
          <p:cNvPr id="3" name="Shape 1"/>
          <p:cNvSpPr/>
          <p:nvPr/>
        </p:nvSpPr>
        <p:spPr>
          <a:xfrm>
            <a:off x="502920" y="1325880"/>
            <a:ext cx="5394960" cy="3063240"/>
          </a:xfrm>
          <a:prstGeom prst="roundRect">
            <a:avLst>
              <a:gd name="adj" fmla="val 3582"/>
            </a:avLst>
          </a:prstGeom>
          <a:solidFill>
            <a:srgbClr val="F6F0EA"/>
          </a:solidFill>
          <a:ln/>
        </p:spPr>
      </p:sp>
      <p:sp>
        <p:nvSpPr>
          <p:cNvPr id="4" name="Text 2"/>
          <p:cNvSpPr/>
          <p:nvPr/>
        </p:nvSpPr>
        <p:spPr>
          <a:xfrm>
            <a:off x="868680" y="1554480"/>
            <a:ext cx="4663440" cy="411480"/>
          </a:xfrm>
          <a:prstGeom prst="rect">
            <a:avLst/>
          </a:prstGeom>
          <a:noFill/>
          <a:ln/>
        </p:spPr>
        <p:txBody>
          <a:bodyPr wrap="square" lIns="0" tIns="0" rIns="0" bIns="0" rtlCol="0" anchor="ctr"/>
          <a:lstStyle/>
          <a:p>
            <a:pPr indent="0" marL="0">
              <a:buNone/>
            </a:pPr>
            <a:r>
              <a:rPr lang="en-US" sz="1800" b="1" dirty="0">
                <a:solidFill>
                  <a:srgbClr val="2A9D5C"/>
                </a:solidFill>
                <a:latin typeface="Cambria" pitchFamily="34" charset="0"/>
                <a:ea typeface="Cambria" pitchFamily="34" charset="-122"/>
                <a:cs typeface="Cambria" pitchFamily="34" charset="-120"/>
              </a:rPr>
              <a:t>Was dafür spricht</a:t>
            </a:r>
            <a:endParaRPr lang="en-US" sz="1800" dirty="0"/>
          </a:p>
        </p:txBody>
      </p:sp>
      <p:sp>
        <p:nvSpPr>
          <p:cNvPr id="5" name="Text 3"/>
          <p:cNvSpPr/>
          <p:nvPr/>
        </p:nvSpPr>
        <p:spPr>
          <a:xfrm>
            <a:off x="868680" y="2103120"/>
            <a:ext cx="466344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Echte Funktionslücke: niemand schreibt per Sprache strukturiert in bestehende Google Docs.</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Der Voice-Note-Markt wächst; Wettbewerber verlangen 99–180 $ pro Jahr.</a:t>
            </a:r>
            <a:endParaRPr lang="en-US" sz="1300" dirty="0"/>
          </a:p>
          <a:p>
            <a:pPr marL="342900" indent="-342900">
              <a:buSzPct val="100000"/>
              <a:buChar char="•"/>
            </a:pPr>
            <a:r>
              <a:rPr lang="en-US" sz="1300" dirty="0">
                <a:solidFill>
                  <a:srgbClr val="2B2B2B"/>
                </a:solidFill>
                <a:latin typeface="Calibri" pitchFamily="34" charset="0"/>
                <a:ea typeface="Calibri" pitchFamily="34" charset="-122"/>
                <a:cs typeface="Calibri" pitchFamily="34" charset="-120"/>
              </a:rPr>
              <a:t>Klare Zielgruppe: Tagebuch-Fans, Paare, Vielnotierer im Google-Ökosystem.</a:t>
            </a:r>
            <a:endParaRPr lang="en-US" sz="1300" dirty="0"/>
          </a:p>
        </p:txBody>
      </p:sp>
      <p:sp>
        <p:nvSpPr>
          <p:cNvPr id="6" name="Shape 4"/>
          <p:cNvSpPr/>
          <p:nvPr/>
        </p:nvSpPr>
        <p:spPr>
          <a:xfrm>
            <a:off x="6309360" y="1325880"/>
            <a:ext cx="5394960" cy="3063240"/>
          </a:xfrm>
          <a:prstGeom prst="roundRect">
            <a:avLst>
              <a:gd name="adj" fmla="val 3582"/>
            </a:avLst>
          </a:prstGeom>
          <a:solidFill>
            <a:srgbClr val="F6F0EA"/>
          </a:solidFill>
          <a:ln/>
        </p:spPr>
      </p:sp>
      <p:sp>
        <p:nvSpPr>
          <p:cNvPr id="7" name="Text 5"/>
          <p:cNvSpPr/>
          <p:nvPr/>
        </p:nvSpPr>
        <p:spPr>
          <a:xfrm>
            <a:off x="6675120" y="1554480"/>
            <a:ext cx="4663440" cy="411480"/>
          </a:xfrm>
          <a:prstGeom prst="rect">
            <a:avLst/>
          </a:prstGeom>
          <a:noFill/>
          <a:ln/>
        </p:spPr>
        <p:txBody>
          <a:bodyPr wrap="square" lIns="0" tIns="0" rIns="0" bIns="0" rtlCol="0" anchor="ctr"/>
          <a:lstStyle/>
          <a:p>
            <a:pPr indent="0" marL="0">
              <a:buNone/>
            </a:pPr>
            <a:r>
              <a:rPr lang="en-US" sz="1800" b="1" dirty="0">
                <a:solidFill>
                  <a:srgbClr val="C0392B"/>
                </a:solidFill>
                <a:latin typeface="Cambria" pitchFamily="34" charset="0"/>
                <a:ea typeface="Cambria" pitchFamily="34" charset="-122"/>
                <a:cs typeface="Cambria" pitchFamily="34" charset="-120"/>
              </a:rPr>
              <a:t>Was dagegen spricht</a:t>
            </a:r>
            <a:endParaRPr lang="en-US" sz="1800" dirty="0"/>
          </a:p>
        </p:txBody>
      </p:sp>
      <p:sp>
        <p:nvSpPr>
          <p:cNvPr id="8" name="Text 6"/>
          <p:cNvSpPr/>
          <p:nvPr/>
        </p:nvSpPr>
        <p:spPr>
          <a:xfrm>
            <a:off x="6675120" y="2103120"/>
            <a:ext cx="466344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Nische — und Google/OpenAI könnten das Feature jederzeit nativ nachbauen.</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Produktisierung heißt: Nutzerkonten, Google-Login (OAuth), Datenschutz/DSGVO, Support.</a:t>
            </a:r>
            <a:endParaRPr lang="en-US" sz="1300" dirty="0"/>
          </a:p>
          <a:p>
            <a:pPr marL="342900" indent="-342900">
              <a:buSzPct val="100000"/>
              <a:buChar char="•"/>
            </a:pPr>
            <a:r>
              <a:rPr lang="en-US" sz="1300" dirty="0">
                <a:solidFill>
                  <a:srgbClr val="2B2B2B"/>
                </a:solidFill>
                <a:latin typeface="Calibri" pitchFamily="34" charset="0"/>
                <a:ea typeface="Calibri" pitchFamily="34" charset="-122"/>
                <a:cs typeface="Calibri" pitchFamily="34" charset="-120"/>
              </a:rPr>
              <a:t>App Store: Apple 99 $/Jahr + Review-Prozess; Google Play 25 $ einmalig.</a:t>
            </a:r>
            <a:endParaRPr lang="en-US" sz="1300" dirty="0"/>
          </a:p>
        </p:txBody>
      </p:sp>
      <p:sp>
        <p:nvSpPr>
          <p:cNvPr id="9" name="Shape 7"/>
          <p:cNvSpPr/>
          <p:nvPr/>
        </p:nvSpPr>
        <p:spPr>
          <a:xfrm>
            <a:off x="502920" y="4617720"/>
            <a:ext cx="11201400" cy="1600200"/>
          </a:xfrm>
          <a:prstGeom prst="roundRect">
            <a:avLst>
              <a:gd name="adj" fmla="val 6857"/>
            </a:avLst>
          </a:prstGeom>
          <a:solidFill>
            <a:srgbClr val="6D2E46"/>
          </a:solidFill>
          <a:ln/>
        </p:spPr>
      </p:sp>
      <p:sp>
        <p:nvSpPr>
          <p:cNvPr id="10" name="Text 8"/>
          <p:cNvSpPr/>
          <p:nvPr/>
        </p:nvSpPr>
        <p:spPr>
          <a:xfrm>
            <a:off x="868680" y="4800600"/>
            <a:ext cx="2743200" cy="365760"/>
          </a:xfrm>
          <a:prstGeom prst="rect">
            <a:avLst/>
          </a:prstGeom>
          <a:noFill/>
          <a:ln/>
        </p:spPr>
        <p:txBody>
          <a:bodyPr wrap="square" lIns="0" tIns="0" rIns="0" bIns="0" rtlCol="0" anchor="ctr"/>
          <a:lstStyle/>
          <a:p>
            <a:pPr indent="0" marL="0">
              <a:buNone/>
            </a:pPr>
            <a:r>
              <a:rPr lang="en-US" sz="1600" b="1" dirty="0">
                <a:solidFill>
                  <a:srgbClr val="E8C9CE"/>
                </a:solidFill>
                <a:latin typeface="Cambria" pitchFamily="34" charset="0"/>
                <a:ea typeface="Cambria" pitchFamily="34" charset="-122"/>
                <a:cs typeface="Cambria" pitchFamily="34" charset="-120"/>
              </a:rPr>
              <a:t>Empfehlung</a:t>
            </a:r>
            <a:endParaRPr lang="en-US" sz="1600" dirty="0"/>
          </a:p>
        </p:txBody>
      </p:sp>
      <p:sp>
        <p:nvSpPr>
          <p:cNvPr id="11" name="Text 9"/>
          <p:cNvSpPr/>
          <p:nvPr/>
        </p:nvSpPr>
        <p:spPr>
          <a:xfrm>
            <a:off x="868680" y="5193792"/>
            <a:ext cx="10515600" cy="9144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Als PWA weiterbetreiben und im Freundeskreis testen — das kostet nichts und beweist den Mehrwert. Erst wenn 20–30 Leute die App regelmäßig nutzen wollen, lohnt der nächste Schritt: zuerst Google Play (PWA-Wrapper, geringer Aufwand), Apple erst bei echter Nachfrage.</a:t>
            </a:r>
            <a:endParaRPr lang="en-US" sz="1400" dirty="0"/>
          </a:p>
        </p:txBody>
      </p:sp>
      <p:sp>
        <p:nvSpPr>
          <p:cNvPr id="12" name="Text 10"/>
          <p:cNvSpPr/>
          <p:nvPr/>
        </p:nvSpPr>
        <p:spPr>
          <a:xfrm>
            <a:off x="502920" y="6473952"/>
            <a:ext cx="2743200" cy="274320"/>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VoiceCore · Juli 2026</a:t>
            </a:r>
            <a:endParaRPr lang="en-US" sz="900" dirty="0"/>
          </a:p>
        </p:txBody>
      </p:sp>
      <p:sp>
        <p:nvSpPr>
          <p:cNvPr id="13" name="Text 11"/>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A1A2B"/>
        </a:solidFill>
      </p:bgPr>
    </p:bg>
    <p:spTree>
      <p:nvGrpSpPr>
        <p:cNvPr id="1" name=""/>
        <p:cNvGrpSpPr/>
        <p:nvPr/>
      </p:nvGrpSpPr>
      <p:grpSpPr>
        <a:xfrm>
          <a:off x="0" y="0"/>
          <a:ext cx="0" cy="0"/>
          <a:chOff x="0" y="0"/>
          <a:chExt cx="0" cy="0"/>
        </a:xfrm>
      </p:grpSpPr>
      <p:sp>
        <p:nvSpPr>
          <p:cNvPr id="2" name="Shape 0"/>
          <p:cNvSpPr/>
          <p:nvPr/>
        </p:nvSpPr>
        <p:spPr>
          <a:xfrm>
            <a:off x="-1828800" y="-2194560"/>
            <a:ext cx="6035040" cy="6035040"/>
          </a:xfrm>
          <a:prstGeom prst="ellipse">
            <a:avLst/>
          </a:prstGeom>
          <a:solidFill>
            <a:srgbClr val="6D2E46"/>
          </a:solidFill>
          <a:ln/>
        </p:spPr>
      </p:sp>
      <p:sp>
        <p:nvSpPr>
          <p:cNvPr id="3" name="Shape 1"/>
          <p:cNvSpPr/>
          <p:nvPr/>
        </p:nvSpPr>
        <p:spPr>
          <a:xfrm>
            <a:off x="9235440" y="3931920"/>
            <a:ext cx="5303520" cy="5303520"/>
          </a:xfrm>
          <a:prstGeom prst="ellipse">
            <a:avLst/>
          </a:prstGeom>
          <a:solidFill>
            <a:srgbClr val="6D2E46"/>
          </a:solidFill>
          <a:ln/>
        </p:spPr>
      </p:sp>
      <p:sp>
        <p:nvSpPr>
          <p:cNvPr id="4" name="Text 2"/>
          <p:cNvSpPr/>
          <p:nvPr/>
        </p:nvSpPr>
        <p:spPr>
          <a:xfrm>
            <a:off x="914400" y="1371600"/>
            <a:ext cx="10332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Einfach mal ausprobieren</a:t>
            </a:r>
            <a:endParaRPr lang="en-US" sz="4000" dirty="0"/>
          </a:p>
        </p:txBody>
      </p:sp>
      <p:sp>
        <p:nvSpPr>
          <p:cNvPr id="5" name="Shape 3"/>
          <p:cNvSpPr/>
          <p:nvPr/>
        </p:nvSpPr>
        <p:spPr>
          <a:xfrm>
            <a:off x="960120" y="2660904"/>
            <a:ext cx="384048" cy="384048"/>
          </a:xfrm>
          <a:prstGeom prst="ellipse">
            <a:avLst/>
          </a:prstGeom>
          <a:solidFill>
            <a:srgbClr val="A26769"/>
          </a:solidFill>
          <a:ln/>
        </p:spPr>
      </p:sp>
      <p:sp>
        <p:nvSpPr>
          <p:cNvPr id="6" name="Text 4"/>
          <p:cNvSpPr/>
          <p:nvPr/>
        </p:nvSpPr>
        <p:spPr>
          <a:xfrm>
            <a:off x="960120" y="26471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554480" y="260604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Funktioniert heute schon — täglich im Einsatz</a:t>
            </a:r>
            <a:endParaRPr lang="en-US" sz="1800" dirty="0"/>
          </a:p>
        </p:txBody>
      </p:sp>
      <p:sp>
        <p:nvSpPr>
          <p:cNvPr id="8" name="Shape 6"/>
          <p:cNvSpPr/>
          <p:nvPr/>
        </p:nvSpPr>
        <p:spPr>
          <a:xfrm>
            <a:off x="960120" y="3438144"/>
            <a:ext cx="384048" cy="384048"/>
          </a:xfrm>
          <a:prstGeom prst="ellipse">
            <a:avLst/>
          </a:prstGeom>
          <a:solidFill>
            <a:srgbClr val="A26769"/>
          </a:solidFill>
          <a:ln/>
        </p:spPr>
      </p:sp>
      <p:sp>
        <p:nvSpPr>
          <p:cNvPr id="9" name="Text 7"/>
          <p:cNvSpPr/>
          <p:nvPr/>
        </p:nvSpPr>
        <p:spPr>
          <a:xfrm>
            <a:off x="960120" y="34244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1554480" y="338328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0 € Betriebskosten, Daten bleiben im eigenen Google-Konto</a:t>
            </a:r>
            <a:endParaRPr lang="en-US" sz="1800" dirty="0"/>
          </a:p>
        </p:txBody>
      </p:sp>
      <p:sp>
        <p:nvSpPr>
          <p:cNvPr id="11" name="Shape 9"/>
          <p:cNvSpPr/>
          <p:nvPr/>
        </p:nvSpPr>
        <p:spPr>
          <a:xfrm>
            <a:off x="960120" y="4215384"/>
            <a:ext cx="384048" cy="384048"/>
          </a:xfrm>
          <a:prstGeom prst="ellipse">
            <a:avLst/>
          </a:prstGeom>
          <a:solidFill>
            <a:srgbClr val="A26769"/>
          </a:solidFill>
          <a:ln/>
        </p:spPr>
      </p:sp>
      <p:sp>
        <p:nvSpPr>
          <p:cNvPr id="12" name="Text 10"/>
          <p:cNvSpPr/>
          <p:nvPr/>
        </p:nvSpPr>
        <p:spPr>
          <a:xfrm>
            <a:off x="960120" y="42016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1554480" y="416052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Füllt eine echte Lücke, die auch Bezahl-Apps offenlassen</a:t>
            </a:r>
            <a:endParaRPr lang="en-US" sz="1800" dirty="0"/>
          </a:p>
        </p:txBody>
      </p:sp>
      <p:sp>
        <p:nvSpPr>
          <p:cNvPr id="14" name="Shape 12"/>
          <p:cNvSpPr/>
          <p:nvPr/>
        </p:nvSpPr>
        <p:spPr>
          <a:xfrm>
            <a:off x="914400" y="5257800"/>
            <a:ext cx="6766560" cy="868680"/>
          </a:xfrm>
          <a:prstGeom prst="roundRect">
            <a:avLst>
              <a:gd name="adj" fmla="val 12632"/>
            </a:avLst>
          </a:prstGeom>
          <a:solidFill>
            <a:srgbClr val="A26769"/>
          </a:solidFill>
          <a:ln/>
        </p:spPr>
      </p:sp>
      <p:sp>
        <p:nvSpPr>
          <p:cNvPr id="15" name="Text 13"/>
          <p:cNvSpPr/>
          <p:nvPr/>
        </p:nvSpPr>
        <p:spPr>
          <a:xfrm>
            <a:off x="1234440" y="5257800"/>
            <a:ext cx="6309360" cy="8686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Live-Demo:  voicecore.onrender.com</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2026-07-11T08:29:47Z</dcterms:created>
  <dcterms:modified xsi:type="dcterms:W3CDTF">2026-07-11T08:29:47Z</dcterms:modified>
</cp:coreProperties>
</file>